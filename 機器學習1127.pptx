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57" r:id="rId4"/>
    <p:sldId id="264" r:id="rId5"/>
    <p:sldId id="272" r:id="rId6"/>
    <p:sldId id="270" r:id="rId7"/>
    <p:sldId id="273" r:id="rId8"/>
    <p:sldId id="265" r:id="rId9"/>
    <p:sldId id="271" r:id="rId10"/>
    <p:sldId id="276" r:id="rId11"/>
    <p:sldId id="277" r:id="rId12"/>
    <p:sldId id="279" r:id="rId13"/>
    <p:sldId id="283" r:id="rId14"/>
    <p:sldId id="261" r:id="rId15"/>
    <p:sldId id="267" r:id="rId16"/>
    <p:sldId id="280" r:id="rId17"/>
    <p:sldId id="268" r:id="rId18"/>
    <p:sldId id="285" r:id="rId19"/>
    <p:sldId id="286" r:id="rId20"/>
    <p:sldId id="278" r:id="rId21"/>
    <p:sldId id="284" r:id="rId22"/>
    <p:sldId id="263" r:id="rId23"/>
    <p:sldId id="281" r:id="rId24"/>
    <p:sldId id="266" r:id="rId25"/>
    <p:sldId id="274" r:id="rId26"/>
    <p:sldId id="269" r:id="rId27"/>
    <p:sldId id="275" r:id="rId28"/>
    <p:sldId id="259" r:id="rId29"/>
    <p:sldId id="260" r:id="rId30"/>
    <p:sldId id="282" r:id="rId3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11" autoAdjust="0"/>
  </p:normalViewPr>
  <p:slideViewPr>
    <p:cSldViewPr snapToGrid="0">
      <p:cViewPr varScale="1">
        <p:scale>
          <a:sx n="84" d="100"/>
          <a:sy n="84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標楷體" panose="03000509000000000000" pitchFamily="65" charset="-120"/>
              </a:defRPr>
            </a:lvl1pPr>
          </a:lstStyle>
          <a:p>
            <a:fld id="{F11B0A02-8FCC-4AF1-8C8A-AD523B10C410}" type="datetimeFigureOut">
              <a:rPr lang="zh-TW" altLang="en-US" smtClean="0"/>
              <a:pPr/>
              <a:t>2025/11/26</a:t>
            </a:fld>
            <a:endParaRPr lang="zh-TW" altLang="en-US" dirty="0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標楷體" panose="03000509000000000000" pitchFamily="65" charset="-120"/>
              </a:defRPr>
            </a:lvl1pPr>
          </a:lstStyle>
          <a:p>
            <a:fld id="{8D612CDC-E18B-4680-B3FD-DE877A6DA47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544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標楷體" panose="03000509000000000000" pitchFamily="65" charset="-12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這張圖顯示：不同 </a:t>
            </a:r>
            <a:r>
              <a:rPr lang="en-US" altLang="zh-TW" dirty="0"/>
              <a:t>θ</a:t>
            </a:r>
            <a:r>
              <a:rPr lang="zh-TW" altLang="en-US" dirty="0"/>
              <a:t>（權重）會導致乒乓球 </a:t>
            </a:r>
            <a:r>
              <a:rPr lang="en-US" altLang="zh-TW" dirty="0"/>
              <a:t>AI </a:t>
            </a:r>
            <a:r>
              <a:rPr lang="zh-TW" altLang="en-US" dirty="0"/>
              <a:t>得分機率不同，而分布的平均值（期望值）落在 </a:t>
            </a:r>
            <a:r>
              <a:rPr lang="en-US" altLang="zh-TW" dirty="0"/>
              <a:t>θ ≈ 1.51</a:t>
            </a:r>
            <a:r>
              <a:rPr lang="zh-TW" altLang="en-US" dirty="0"/>
              <a:t>，也就是「最佳表現的權重位置」。</a:t>
            </a:r>
            <a:br>
              <a:rPr lang="en-US" altLang="zh-TW" dirty="0"/>
            </a:br>
            <a:r>
              <a:rPr lang="en-US" altLang="zh-TW" dirty="0"/>
              <a:t>X </a:t>
            </a:r>
            <a:r>
              <a:rPr lang="zh-TW" altLang="en-US" dirty="0"/>
              <a:t>軸是一組你用來實驗的權重參數 </a:t>
            </a:r>
            <a:r>
              <a:rPr lang="en-US" altLang="zh-TW" dirty="0"/>
              <a:t>θ</a:t>
            </a:r>
            <a:r>
              <a:rPr lang="zh-TW" altLang="en-US" dirty="0"/>
              <a:t>：從 </a:t>
            </a:r>
            <a:r>
              <a:rPr lang="en-US" altLang="zh-TW" dirty="0"/>
              <a:t>-2 </a:t>
            </a:r>
            <a:r>
              <a:rPr lang="zh-TW" altLang="en-US" dirty="0"/>
              <a:t>到 </a:t>
            </a:r>
            <a:r>
              <a:rPr lang="en-US" altLang="zh-TW" dirty="0"/>
              <a:t>5 </a:t>
            </a:r>
            <a:r>
              <a:rPr lang="zh-TW" altLang="en-US" dirty="0"/>
              <a:t>共 </a:t>
            </a:r>
            <a:r>
              <a:rPr lang="en-US" altLang="zh-TW" dirty="0"/>
              <a:t>50 </a:t>
            </a:r>
            <a:r>
              <a:rPr lang="zh-TW" altLang="en-US" dirty="0"/>
              <a:t>個 </a:t>
            </a:r>
            <a:r>
              <a:rPr lang="en-US" altLang="zh-TW" dirty="0"/>
              <a:t>θ</a:t>
            </a:r>
            <a:r>
              <a:rPr lang="zh-TW" altLang="en-US" dirty="0"/>
              <a:t>模擬 </a:t>
            </a:r>
            <a:r>
              <a:rPr lang="en-US" altLang="zh-TW" dirty="0"/>
              <a:t>AI </a:t>
            </a:r>
            <a:r>
              <a:rPr lang="zh-TW" altLang="en-US" dirty="0"/>
              <a:t>每個 </a:t>
            </a:r>
            <a:r>
              <a:rPr lang="en-US" altLang="zh-TW" dirty="0"/>
              <a:t>θ </a:t>
            </a:r>
            <a:r>
              <a:rPr lang="zh-TW" altLang="en-US" dirty="0"/>
              <a:t>下的性能（得分能力）</a:t>
            </a:r>
          </a:p>
          <a:p>
            <a:r>
              <a:rPr lang="zh-TW" altLang="en-US" b="1" dirty="0"/>
              <a:t>當你用某個 </a:t>
            </a:r>
            <a:r>
              <a:rPr lang="en-US" altLang="zh-TW" b="1" dirty="0"/>
              <a:t>θ </a:t>
            </a:r>
            <a:r>
              <a:rPr lang="zh-TW" altLang="en-US" b="1" dirty="0"/>
              <a:t>玩乒乓球時，那個 </a:t>
            </a:r>
            <a:r>
              <a:rPr lang="en-US" altLang="zh-TW" b="1" dirty="0"/>
              <a:t>θ </a:t>
            </a:r>
            <a:r>
              <a:rPr lang="zh-TW" altLang="en-US" b="1" dirty="0"/>
              <a:t>讓你得分的機率是多少？</a:t>
            </a:r>
            <a:endParaRPr lang="en-US" altLang="zh-TW" b="1" dirty="0"/>
          </a:p>
          <a:p>
            <a:r>
              <a:rPr lang="en-US" altLang="zh-TW" dirty="0"/>
              <a:t>θ </a:t>
            </a:r>
            <a:r>
              <a:rPr lang="zh-TW" altLang="en-US" dirty="0"/>
              <a:t>太小（負）：</a:t>
            </a:r>
            <a:br>
              <a:rPr lang="zh-TW" altLang="en-US" dirty="0"/>
            </a:br>
            <a:r>
              <a:rPr lang="en-US" altLang="zh-TW" dirty="0"/>
              <a:t>AI </a:t>
            </a:r>
            <a:r>
              <a:rPr lang="zh-TW" altLang="en-US" dirty="0"/>
              <a:t>對球的位置反應反向或不足 → 經常接不到球 → 低得分機率</a:t>
            </a:r>
          </a:p>
          <a:p>
            <a:r>
              <a:rPr lang="en-US" altLang="zh-TW" dirty="0"/>
              <a:t>θ </a:t>
            </a:r>
            <a:r>
              <a:rPr lang="zh-TW" altLang="en-US" dirty="0"/>
              <a:t>介於 </a:t>
            </a:r>
            <a:r>
              <a:rPr lang="en-US" altLang="zh-TW" dirty="0"/>
              <a:t>1~2</a:t>
            </a:r>
            <a:r>
              <a:rPr lang="zh-TW" altLang="en-US" dirty="0"/>
              <a:t>：</a:t>
            </a:r>
            <a:br>
              <a:rPr lang="zh-TW" altLang="en-US" dirty="0"/>
            </a:br>
            <a:r>
              <a:rPr lang="en-US" altLang="zh-TW" dirty="0"/>
              <a:t>AI </a:t>
            </a:r>
            <a:r>
              <a:rPr lang="zh-TW" altLang="en-US" dirty="0"/>
              <a:t>恰好能準確預測球落點 → 常常得分 → 得分機率最高</a:t>
            </a:r>
          </a:p>
          <a:p>
            <a:r>
              <a:rPr lang="en-US" altLang="zh-TW" dirty="0"/>
              <a:t>θ </a:t>
            </a:r>
            <a:r>
              <a:rPr lang="zh-TW" altLang="en-US" dirty="0"/>
              <a:t>太大（接近 </a:t>
            </a:r>
            <a:r>
              <a:rPr lang="en-US" altLang="zh-TW" dirty="0"/>
              <a:t>5</a:t>
            </a:r>
            <a:r>
              <a:rPr lang="zh-TW" altLang="en-US" dirty="0"/>
              <a:t>）：</a:t>
            </a:r>
            <a:br>
              <a:rPr lang="zh-TW" altLang="en-US" dirty="0"/>
            </a:br>
            <a:r>
              <a:rPr lang="en-US" altLang="zh-TW" dirty="0"/>
              <a:t>AI </a:t>
            </a:r>
            <a:r>
              <a:rPr lang="zh-TW" altLang="en-US" dirty="0"/>
              <a:t>反應過度、抖動 → 移動過頭 → 又接不到球 → 得分機率下降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12CDC-E18B-4680-B3FD-DE877A6DA476}" type="slidenum">
              <a:rPr lang="zh-TW" altLang="en-US" smtClean="0"/>
              <a:pPr/>
              <a:t>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0593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DAD3EA-2453-9D1A-759E-2F5C42D39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F9AE1A-D8D4-2D72-5BCA-D497EE2D8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C04B6B-47D4-A364-CE0B-FD39CE71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F50B2-4ED2-47B0-BBE4-181F7752099F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B5193E-54B5-E1D9-4ED5-1565A7088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37EDE7-1573-8F1B-0C54-FF813A878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7895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873F75-A605-C5CB-3C92-550EE684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2D0B8B-1F96-5B31-79D2-070EFBE7D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789AD9-376E-1C37-B22D-B58148BE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4713-70A6-45E6-ABB1-B22BBA28C166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37D042-3664-7E86-D6DF-25CAF9A8F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9E5275-2337-413D-277B-E5EE05A4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9625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FE7B7-1038-279C-9BC6-DC9C8AA78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7221318-8162-DC94-44D3-B0F9DF854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D90042-2129-BDA6-756C-F4CEC6A9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EDB0-4FD2-4A43-A77D-D07B1A489FB4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4D9935-D03A-71A9-29A3-7039D89A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2096B7-8C61-EE61-7000-8FC43911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547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F8537C-3226-E8EC-CB1B-F7379FFE4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850D85-672F-A58C-E179-7152D92E3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AC454B-F7C0-A7DF-ABAA-F3E5A0D71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F42165-DFD7-21D6-DB63-6532A46C6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3457-ECA6-49B5-8DFD-3DFEF38337D3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8B63203-1332-0323-AEF0-26004E3F8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F49DFF-D429-C584-BE51-684DA3854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717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EAA902-53DB-4506-948F-491D77651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9E457B3-29C2-1D32-824B-866A9015E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8F3408A-12A9-3712-8156-6CD99AF48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9C257E-FA9B-2F90-5BEC-828FE9D17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82D9A5F-16D5-7A87-5D75-486E67EC99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019E68E-A9EB-AB60-720F-6AABF5A7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E499-E779-4153-9213-63C3C6FFF5E4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C8ECDD-C74C-45B4-9F85-551B88E7C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2BEF4AC-F7B5-B4FF-6F37-244827196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518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0DB4E9-6174-5A5A-5B64-59F23F28A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6BB2C5E-DECF-EBB5-6FA9-C427E3C2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A003A-B9A9-435B-A65A-0898D5EE2119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1771B8C-2517-8680-067F-50AB84258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2AC3DE4-58F5-2257-CA45-6071766A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4131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627F675-BFC5-428D-142E-F7CADE82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2E5F3-220A-44CF-A305-A879459A6774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94CDC5D-9CD3-5187-07AE-CDFF0F671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3F5532-9D30-438B-62C8-B02AC7C8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072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202216-4B38-EB1B-65C0-B881A912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68A2E5-4D50-511D-EB50-379C714BA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094AC51-0221-DA7E-6C34-DFCABA197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E2D2BB-4D69-0287-A4F8-79749E98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66FA5-F023-4760-99C2-2A218F58C760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64FB94-2834-6C04-84D9-AC41687F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3C152C-D266-4C18-01C6-7C38457F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51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3BD44-3373-DDA4-A67F-C4E889348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53D08B2-19C8-BF25-11BB-85582DBAA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7A7151C-B428-54BC-5173-CB3CAB0AC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FFBC8C-B64A-62A2-9BAF-275DACB5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6F663-81AF-4EC3-A0C7-88CA1CA5DEC2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6F2C258-518F-3FB0-972D-3B3CF4025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788734-9415-E1F1-6673-7B584D5CC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4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C498F2-84D7-7598-F99F-68A61696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253AFB1-3EC2-8D2F-059E-4CE0E28A3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349A9C-0372-1620-1357-2C3C538D1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E1C66-2336-4F12-B247-25795628E782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078A37-542B-B226-DCC9-C61E25624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3417C2-9FD4-E504-4FEA-2EA1FABC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199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03FCBB-C427-6E60-AB26-3E450CF8EE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4B844F6-9667-3C2D-D71C-094FB55ED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EBDEBE-BEDC-6A4C-12DA-223DEAAB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876C1-C9E1-4BDE-90E3-12EB9E6305EF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57A408-078A-65C6-3131-4E2B4571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01884A-D295-8DFD-D556-BE1E3E767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034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A22EC6A-8C61-7DBD-11BF-0E1182376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B98DFF-2984-0095-7656-93F6B74A0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68E6AB-B315-0604-A07A-1EE1BE5479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2A592002-FCCF-4D31-BC98-A2DB61D6EAF9}" type="datetime1">
              <a:rPr lang="zh-TW" altLang="en-US" smtClean="0"/>
              <a:t>2025/11/26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F9840F-3C1E-1B5A-1FB8-AA6F3FE22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679932-EFE3-E386-D533-489C4FFDE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2EAD277-D6BE-4171-9DB5-4DA345562838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368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493992C1-C6A8-EB34-DBFB-35D992BE9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F114112117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電子碩一甲 李明易</a:t>
            </a:r>
          </a:p>
          <a:p>
            <a:r>
              <a:rPr lang="en-US" altLang="zh-TW" dirty="0"/>
              <a:t>F114112118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電子碩一甲 劉來益</a:t>
            </a:r>
          </a:p>
          <a:p>
            <a:r>
              <a:rPr lang="en-US" altLang="zh-TW" dirty="0"/>
              <a:t>F114112129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電子碩一甲 張甯筌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報告日期：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2025/11/13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23C5D16E-9D7A-AD1E-C003-6B8A4CFFB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機器學習與實作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006A5-6963-378C-8031-12AE05E8E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1855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3">
            <a:extLst>
              <a:ext uri="{FF2B5EF4-FFF2-40B4-BE49-F238E27FC236}">
                <a16:creationId xmlns:a16="http://schemas.microsoft.com/office/drawing/2014/main" id="{E2685D0D-1149-93C8-D3E5-61C43C068EED}"/>
              </a:ext>
            </a:extLst>
          </p:cNvPr>
          <p:cNvSpPr txBox="1">
            <a:spLocks/>
          </p:cNvSpPr>
          <p:nvPr/>
        </p:nvSpPr>
        <p:spPr>
          <a:xfrm>
            <a:off x="838200" y="1229429"/>
            <a:ext cx="10515600" cy="503777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外掛名稱：乒乓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</a:p>
          <a:p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遊戲名稱：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PAIA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來一場乒乓球對戰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遊戲規則：左右控制板子移動，反彈球並讓對手接不到球則得分。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遊戲操作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外掛輸入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：控制板子動作，分為板子往左、板子往右以及不動。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外掛功能：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訓練：接收到狀態後，依照訓練中模型的權重選擇一輸入，並根據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　　　  此次輸入的反饋來更新訓練模型。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預測：根據當前遊戲狀態，自動根據模型選擇需要提供給遊戲需要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              的輸入。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F3BCFC9-BE53-739A-3527-56F4B25C402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368709-2811-C403-BA58-0190EFB48CCB}"/>
              </a:ext>
            </a:extLst>
          </p:cNvPr>
          <p:cNvSpPr/>
          <p:nvPr/>
        </p:nvSpPr>
        <p:spPr>
          <a:xfrm>
            <a:off x="9503518" y="591516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遊戲畫面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D592A23-6C23-E7E9-43EF-1B80EAC2A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1441" y="590795"/>
            <a:ext cx="2232150" cy="5343159"/>
          </a:xfrm>
          <a:prstGeom prst="rect">
            <a:avLst/>
          </a:prstGeom>
        </p:spPr>
      </p:pic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5C81F9A-B248-7D22-165D-02B9B74A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fld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3030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19CCBD2-E68F-7F06-3172-5528AB557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55" y="377557"/>
            <a:ext cx="2117345" cy="5251014"/>
          </a:xfrm>
          <a:prstGeom prst="rect">
            <a:avLst/>
          </a:prstGeo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5EF3874-5EE3-E642-E628-F298FBB94E60}"/>
              </a:ext>
            </a:extLst>
          </p:cNvPr>
          <p:cNvSpPr txBox="1">
            <a:spLocks/>
          </p:cNvSpPr>
          <p:nvPr/>
        </p:nvSpPr>
        <p:spPr>
          <a:xfrm>
            <a:off x="838200" y="1229429"/>
            <a:ext cx="10515600" cy="503777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外掛名稱：自動打磚塊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</a:p>
          <a:p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遊戲名稱：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PAIA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一起打磚塊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遊戲規則：左右控制板子移動，反彈球並擊破所有磚塊為通關。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遊戲操作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外掛輸入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：控制板子動作，分為板子往左、板子往右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  、球發往左、球發往右以及不動。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外掛功能：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訓練：接收到狀態後，依照訓練中模型的權重選擇一輸入，並根據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　　　  此次輸入的反饋來更新訓練模型。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預測：根據當前遊戲狀態，自動根據模型選擇需要提供給遊戲需要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              的輸入。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F61E3060-4F68-4BCC-F5BA-01EF0574ED4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1873EF-9EF1-6D68-29AB-DF0425AE3191}"/>
              </a:ext>
            </a:extLst>
          </p:cNvPr>
          <p:cNvSpPr/>
          <p:nvPr/>
        </p:nvSpPr>
        <p:spPr>
          <a:xfrm>
            <a:off x="9741129" y="564100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遊戲畫面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739FF11-D7D8-67FE-D8E1-3B97904D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0335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1A95A51-B1F0-4E88-A072-0E8DF146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D7EED69-F112-4BFD-A775-04DC56D2054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效能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AF0554F-439D-8FA7-545D-FD16EA437FFF}"/>
              </a:ext>
            </a:extLst>
          </p:cNvPr>
          <p:cNvSpPr txBox="1"/>
          <p:nvPr/>
        </p:nvSpPr>
        <p:spPr>
          <a:xfrm>
            <a:off x="901832" y="2228671"/>
            <a:ext cx="77087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訓練目標 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接到每次對手打過來的球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嘗試讓對手無法接到打過去的球。</a:t>
            </a:r>
          </a:p>
        </p:txBody>
      </p:sp>
    </p:spTree>
    <p:extLst>
      <p:ext uri="{BB962C8B-B14F-4D97-AF65-F5344CB8AC3E}">
        <p14:creationId xmlns:p14="http://schemas.microsoft.com/office/powerpoint/2010/main" val="1923434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1A95A51-B1F0-4E88-A072-0E8DF146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D7EED69-F112-4BFD-A775-04DC56D2054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效能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</p:spTree>
    <p:extLst>
      <p:ext uri="{BB962C8B-B14F-4D97-AF65-F5344CB8AC3E}">
        <p14:creationId xmlns:p14="http://schemas.microsoft.com/office/powerpoint/2010/main" val="1822137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72DF19E-C60F-4853-9976-2E74F3A3C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2C41E97-237F-4269-8064-B1AF179CFC7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介面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7F3AF69-6EED-45AB-92EF-36D2F1234FE5}"/>
              </a:ext>
            </a:extLst>
          </p:cNvPr>
          <p:cNvSpPr txBox="1"/>
          <p:nvPr/>
        </p:nvSpPr>
        <p:spPr>
          <a:xfrm>
            <a:off x="1164651" y="1120903"/>
            <a:ext cx="6364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外部介面</a:t>
            </a:r>
            <a:r>
              <a:rPr lang="en-US" altLang="zh-TW" dirty="0"/>
              <a:t>:</a:t>
            </a:r>
            <a:r>
              <a:rPr lang="zh-TW" altLang="en-US" dirty="0"/>
              <a:t>板子嘗試接反彈回來的球，試圖讓對手接不到球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內部介面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08205CE-8776-4F18-89D2-70D97C3C8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385" y="2098047"/>
            <a:ext cx="3218574" cy="425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42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72DF19E-C60F-4853-9976-2E74F3A3C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2C41E97-237F-4269-8064-B1AF179CFC7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介面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7F3AF69-6EED-45AB-92EF-36D2F1234FE5}"/>
              </a:ext>
            </a:extLst>
          </p:cNvPr>
          <p:cNvSpPr txBox="1"/>
          <p:nvPr/>
        </p:nvSpPr>
        <p:spPr>
          <a:xfrm>
            <a:off x="1164651" y="1120903"/>
            <a:ext cx="6133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外部介面</a:t>
            </a:r>
            <a:r>
              <a:rPr lang="en-US" altLang="zh-TW" dirty="0"/>
              <a:t>:</a:t>
            </a:r>
            <a:r>
              <a:rPr lang="zh-TW" altLang="en-US" dirty="0"/>
              <a:t>板子嘗試接反彈回來的球，試圖打掉所有磚塊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內部介面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FFEAFDE-CC2B-456B-BEBC-399ABDCDF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507" y="1987289"/>
            <a:ext cx="3278771" cy="436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199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4FC73B-102C-4FA4-9174-F88F234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5B4D81C-15C2-46F0-8140-D577F9ACB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19B62C7-85B0-4097-83C1-33668AE21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26" y="1085125"/>
            <a:ext cx="4010585" cy="5306165"/>
          </a:xfrm>
          <a:prstGeom prst="rect">
            <a:avLst/>
          </a:prstGeom>
        </p:spPr>
      </p:pic>
      <p:graphicFrame>
        <p:nvGraphicFramePr>
          <p:cNvPr id="11" name="內容版面配置區 3">
            <a:extLst>
              <a:ext uri="{FF2B5EF4-FFF2-40B4-BE49-F238E27FC236}">
                <a16:creationId xmlns:a16="http://schemas.microsoft.com/office/drawing/2014/main" id="{A67F28CE-2B92-4D41-A7B2-327DF8092C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9534970"/>
              </p:ext>
            </p:extLst>
          </p:nvPr>
        </p:nvGraphicFramePr>
        <p:xfrm>
          <a:off x="7073901" y="939437"/>
          <a:ext cx="3512673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46917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1965756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大小</a:t>
                      </a:r>
                      <a:r>
                        <a:rPr lang="en-US" altLang="zh-TW" dirty="0"/>
                        <a:t>[</a:t>
                      </a:r>
                      <a:r>
                        <a:rPr lang="zh-TW" altLang="en-US" dirty="0"/>
                        <a:t>寬*高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像素</a:t>
                      </a:r>
                      <a:r>
                        <a:rPr lang="en-US" altLang="zh-TW" dirty="0"/>
                        <a:t>)]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遊戲視窗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500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429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磚塊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1348138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>
            <a:extLst>
              <a:ext uri="{FF2B5EF4-FFF2-40B4-BE49-F238E27FC236}">
                <a16:creationId xmlns:a16="http://schemas.microsoft.com/office/drawing/2014/main" id="{642FF3D0-E759-4733-A255-E55627AA4C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8379138"/>
              </p:ext>
            </p:extLst>
          </p:nvPr>
        </p:nvGraphicFramePr>
        <p:xfrm>
          <a:off x="7073902" y="3123812"/>
          <a:ext cx="3512673" cy="148565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31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初始位置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[80,420]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對手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[80,70]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[93, 395]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3826421"/>
                  </a:ext>
                </a:extLst>
              </a:tr>
            </a:tbl>
          </a:graphicData>
        </a:graphic>
      </p:graphicFrame>
      <p:graphicFrame>
        <p:nvGraphicFramePr>
          <p:cNvPr id="13" name="內容版面配置區 3">
            <a:extLst>
              <a:ext uri="{FF2B5EF4-FFF2-40B4-BE49-F238E27FC236}">
                <a16:creationId xmlns:a16="http://schemas.microsoft.com/office/drawing/2014/main" id="{05639056-14B4-4225-AB0B-7B593A38EE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673739"/>
              </p:ext>
            </p:extLst>
          </p:nvPr>
        </p:nvGraphicFramePr>
        <p:xfrm>
          <a:off x="7073903" y="4974590"/>
          <a:ext cx="3512673" cy="13817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移動範圍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[0,400]~[120,400]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[0, 0]~[0,403]</a:t>
                      </a:r>
                    </a:p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[200,0]~[200,403]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483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4FC73B-102C-4FA4-9174-F88F234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5B4D81C-15C2-46F0-8140-D577F9ACB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D4E93A-13BF-4226-8C96-B6C2DF32C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94" y="1088290"/>
            <a:ext cx="3953427" cy="5268060"/>
          </a:xfrm>
          <a:prstGeom prst="rect">
            <a:avLst/>
          </a:prstGeom>
        </p:spPr>
      </p:pic>
      <p:graphicFrame>
        <p:nvGraphicFramePr>
          <p:cNvPr id="9" name="內容版面配置區 3">
            <a:extLst>
              <a:ext uri="{FF2B5EF4-FFF2-40B4-BE49-F238E27FC236}">
                <a16:creationId xmlns:a16="http://schemas.microsoft.com/office/drawing/2014/main" id="{AE771762-DBAD-4125-8A76-B61C37BF9F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8599368"/>
              </p:ext>
            </p:extLst>
          </p:nvPr>
        </p:nvGraphicFramePr>
        <p:xfrm>
          <a:off x="7073903" y="1085125"/>
          <a:ext cx="3512673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46917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1965756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大小</a:t>
                      </a:r>
                      <a:r>
                        <a:rPr lang="en-US" altLang="zh-TW" dirty="0"/>
                        <a:t>[</a:t>
                      </a:r>
                      <a:r>
                        <a:rPr lang="zh-TW" altLang="en-US" dirty="0"/>
                        <a:t>寬*高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像素</a:t>
                      </a:r>
                      <a:r>
                        <a:rPr lang="en-US" altLang="zh-TW" dirty="0"/>
                        <a:t>)]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遊戲視窗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500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429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磚塊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1348138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>
            <a:extLst>
              <a:ext uri="{FF2B5EF4-FFF2-40B4-BE49-F238E27FC236}">
                <a16:creationId xmlns:a16="http://schemas.microsoft.com/office/drawing/2014/main" id="{31CA0F27-E6BD-43C1-BFB3-672520D9D5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4886703"/>
              </p:ext>
            </p:extLst>
          </p:nvPr>
        </p:nvGraphicFramePr>
        <p:xfrm>
          <a:off x="7073902" y="3399551"/>
          <a:ext cx="3512673" cy="111481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31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初始位置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[75,400]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[93, 395]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</a:tbl>
          </a:graphicData>
        </a:graphic>
      </p:graphicFrame>
      <p:graphicFrame>
        <p:nvGraphicFramePr>
          <p:cNvPr id="13" name="內容版面配置區 3">
            <a:extLst>
              <a:ext uri="{FF2B5EF4-FFF2-40B4-BE49-F238E27FC236}">
                <a16:creationId xmlns:a16="http://schemas.microsoft.com/office/drawing/2014/main" id="{CEE0F098-2D94-45D1-AE30-A2A2957B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0971234"/>
              </p:ext>
            </p:extLst>
          </p:nvPr>
        </p:nvGraphicFramePr>
        <p:xfrm>
          <a:off x="7073903" y="4974590"/>
          <a:ext cx="3512673" cy="13817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移動範圍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[0,400]~[120,400]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[0, 0]~[0,403]</a:t>
                      </a:r>
                    </a:p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[200,0]~[200,403]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164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AADF965-A017-40CD-8D2A-7F6E559D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ED685636-EC11-4416-8D41-3F2A53011CF9}"/>
              </a:ext>
            </a:extLst>
          </p:cNvPr>
          <p:cNvSpPr txBox="1">
            <a:spLocks/>
          </p:cNvSpPr>
          <p:nvPr/>
        </p:nvSpPr>
        <p:spPr>
          <a:xfrm>
            <a:off x="838200" y="1200908"/>
            <a:ext cx="10515600" cy="503777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/>
              <a:t>限制</a:t>
            </a: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語言</a:t>
            </a:r>
            <a:r>
              <a:rPr lang="en-US" altLang="zh-TW" sz="1800" dirty="0"/>
              <a:t>:Python(AI</a:t>
            </a:r>
            <a:r>
              <a:rPr lang="zh-TW" altLang="en-US" sz="1800" dirty="0"/>
              <a:t>訓練</a:t>
            </a:r>
            <a:r>
              <a:rPr lang="en-US" altLang="zh-TW" sz="18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環境版本</a:t>
            </a:r>
            <a:r>
              <a:rPr lang="en-US" altLang="zh-TW" sz="1800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/>
              <a:t>Python:3.10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模組版本</a:t>
            </a:r>
            <a:r>
              <a:rPr lang="en-US" altLang="zh-TW" sz="1800" dirty="0"/>
              <a:t>:</a:t>
            </a:r>
          </a:p>
          <a:p>
            <a:pPr marL="0" indent="0">
              <a:buNone/>
            </a:pPr>
            <a:r>
              <a:rPr lang="en-US" altLang="zh-TW" sz="1800" dirty="0"/>
              <a:t>PIAI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作業系統：</a:t>
            </a:r>
            <a:r>
              <a:rPr lang="en-US" altLang="zh-TW" sz="18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/>
              <a:t>Windows 10 </a:t>
            </a:r>
            <a:r>
              <a:rPr lang="zh-TW" altLang="en-US" sz="1800" dirty="0"/>
              <a:t>專業版</a:t>
            </a:r>
            <a:r>
              <a:rPr lang="en-US" altLang="zh-TW" sz="1800" dirty="0"/>
              <a:t>64</a:t>
            </a:r>
            <a:r>
              <a:rPr lang="zh-TW" altLang="en-US" sz="1800" dirty="0"/>
              <a:t>位元</a:t>
            </a: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硬體列表：</a:t>
            </a:r>
            <a:endParaRPr lang="en-US" altLang="zh-TW" sz="1800" dirty="0"/>
          </a:p>
          <a:p>
            <a:endParaRPr lang="zh-TW" altLang="en-US" sz="1800" dirty="0"/>
          </a:p>
        </p:txBody>
      </p:sp>
      <p:sp>
        <p:nvSpPr>
          <p:cNvPr id="4" name="標題 2">
            <a:extLst>
              <a:ext uri="{FF2B5EF4-FFF2-40B4-BE49-F238E27FC236}">
                <a16:creationId xmlns:a16="http://schemas.microsoft.com/office/drawing/2014/main" id="{1C65DDB2-0397-4E52-ADB5-B51F83098EC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4224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8CE28FC-B4EB-42ED-8197-E1377399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56E518F8-6F82-45D2-A1D4-9236CE418853}"/>
              </a:ext>
            </a:extLst>
          </p:cNvPr>
          <p:cNvSpPr txBox="1">
            <a:spLocks/>
          </p:cNvSpPr>
          <p:nvPr/>
        </p:nvSpPr>
        <p:spPr>
          <a:xfrm>
            <a:off x="838200" y="1200908"/>
            <a:ext cx="10515600" cy="503777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/>
              <a:t>限制</a:t>
            </a: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語言</a:t>
            </a:r>
            <a:r>
              <a:rPr lang="en-US" altLang="zh-TW" sz="1800" dirty="0"/>
              <a:t>:Python(AI</a:t>
            </a:r>
            <a:r>
              <a:rPr lang="zh-TW" altLang="en-US" sz="1800" dirty="0"/>
              <a:t>訓練</a:t>
            </a:r>
            <a:r>
              <a:rPr lang="en-US" altLang="zh-TW" sz="18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環境版本</a:t>
            </a:r>
            <a:r>
              <a:rPr lang="en-US" altLang="zh-TW" sz="1800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/>
              <a:t>Python:3.10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模組版本</a:t>
            </a:r>
            <a:r>
              <a:rPr lang="en-US" altLang="zh-TW" sz="1800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/>
              <a:t>PIAI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作業系統：</a:t>
            </a:r>
            <a:r>
              <a:rPr lang="en-US" altLang="zh-TW" sz="18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/>
              <a:t>Windows 10 </a:t>
            </a:r>
            <a:r>
              <a:rPr lang="zh-TW" altLang="en-US" sz="1800" dirty="0"/>
              <a:t>專業版</a:t>
            </a:r>
            <a:r>
              <a:rPr lang="en-US" altLang="zh-TW" sz="1800" dirty="0"/>
              <a:t>64</a:t>
            </a:r>
            <a:r>
              <a:rPr lang="zh-TW" altLang="en-US" sz="1800" dirty="0"/>
              <a:t>位元</a:t>
            </a: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硬體列表：</a:t>
            </a:r>
            <a:endParaRPr lang="en-US" altLang="zh-TW" sz="1800" dirty="0"/>
          </a:p>
          <a:p>
            <a:endParaRPr lang="zh-TW" altLang="en-US" sz="1800" dirty="0"/>
          </a:p>
        </p:txBody>
      </p:sp>
      <p:sp>
        <p:nvSpPr>
          <p:cNvPr id="4" name="標題 2">
            <a:extLst>
              <a:ext uri="{FF2B5EF4-FFF2-40B4-BE49-F238E27FC236}">
                <a16:creationId xmlns:a16="http://schemas.microsoft.com/office/drawing/2014/main" id="{9186B0E7-AE57-4AB2-96E8-37BC56D00C3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</p:spTree>
    <p:extLst>
      <p:ext uri="{BB962C8B-B14F-4D97-AF65-F5344CB8AC3E}">
        <p14:creationId xmlns:p14="http://schemas.microsoft.com/office/powerpoint/2010/main" val="3310809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EA85CA1-DD47-42C4-3EE2-EFF7ED15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39F20CB-A784-609A-D9C9-D078E6DE7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967" y="1174503"/>
            <a:ext cx="5630061" cy="74305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8D2020A-EDF7-5554-3088-72FA6D6B5968}"/>
              </a:ext>
            </a:extLst>
          </p:cNvPr>
          <p:cNvSpPr txBox="1"/>
          <p:nvPr/>
        </p:nvSpPr>
        <p:spPr>
          <a:xfrm>
            <a:off x="3048760" y="464558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/>
              <a:t>Deep Q-Network (DQN)</a:t>
            </a:r>
            <a:r>
              <a:rPr lang="en-US" altLang="zh-TW" sz="3200" dirty="0"/>
              <a:t> </a:t>
            </a:r>
            <a:endParaRPr lang="zh-TW" altLang="en-US" sz="32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99E4ADE-C86E-0E8E-3F99-C552FBABF3A4}"/>
                  </a:ext>
                </a:extLst>
              </p:cNvPr>
              <p:cNvSpPr txBox="1"/>
              <p:nvPr/>
            </p:nvSpPr>
            <p:spPr>
              <a:xfrm>
                <a:off x="754936" y="2514763"/>
                <a:ext cx="6724855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這是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DQN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的損失函數，表示我們要最小化的目標。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zh-TW" altLang="en-US" b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這是期望符號，表示對所有經驗樣本的平均。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是在當前步驟 </a:t>
                </a: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中從環境中獲得的 即時回報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（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reward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）。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4.</a:t>
                </a: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：</a:t>
                </a: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是 折扣因子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（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Discount Factor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），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用來決定未來回報的權重。</a:t>
                </a:r>
              </a:p>
              <a:p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5. ⁡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nor/>
                              </m:rPr>
                              <a:rPr lang="zh-TW" altLang="en-US" dirty="0">
                                <a:latin typeface="標楷體" panose="03000509000000000000" pitchFamily="65" charset="-120"/>
                                <a:ea typeface="標楷體" panose="03000509000000000000" pitchFamily="65" charset="-120"/>
                              </a:rPr>
                              <m:t>𝑎</m:t>
                            </m:r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'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zh-TW" altLang="en-US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𝑄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zh-TW" altLang="en-US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𝑠</m:t>
                        </m:r>
                        <m:r>
                          <m:rPr>
                            <m:nor/>
                          </m:rPr>
                          <a:rPr lang="zh-TW" altLang="en-US" baseline="-250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altLang="zh-TW" baseline="-250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+1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zh-TW" altLang="en-US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𝑎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'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;</m:t>
                        </m:r>
                        <m:r>
                          <m:rPr>
                            <m:nor/>
                          </m:rPr>
                          <a:rPr lang="zh-TW" altLang="en-US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zh-TW" altLang="en-US" baseline="300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)</m:t>
                        </m:r>
                      </m:e>
                    </m:func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：這是目標 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Q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值中的一部分，表示在下一個狀態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b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中，選擇的最佳動作的 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Q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值。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6.Q(</a:t>
                </a:r>
                <a:r>
                  <a:rPr lang="en-US" altLang="zh-TW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s</a:t>
                </a:r>
                <a:r>
                  <a:rPr lang="en-US" altLang="zh-TW" baseline="-25000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t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​,a</a:t>
                </a:r>
                <a:r>
                  <a:rPr lang="en-US" altLang="zh-TW" baseline="-25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t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​;θ)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：這是 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Q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網絡的預測值，即在當前狀態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下選擇動作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 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Q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值。</a:t>
                </a:r>
              </a:p>
              <a:p>
                <a:r>
                  <a:rPr lang="en-US" altLang="zh-TW" dirty="0"/>
                  <a:t>7.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權重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endParaRPr lang="zh-TW" altLang="en-US" dirty="0"/>
              </a:p>
              <a:p>
                <a:endParaRPr lang="en-US" altLang="zh-TW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99E4ADE-C86E-0E8E-3F99-C552FBABF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36" y="2514763"/>
                <a:ext cx="6724855" cy="3416320"/>
              </a:xfrm>
              <a:prstGeom prst="rect">
                <a:avLst/>
              </a:prstGeom>
              <a:blipFill>
                <a:blip r:embed="rId3"/>
                <a:stretch>
                  <a:fillRect l="-816" t="-1071" r="-40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5424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EA1A4E9-94A8-B344-7DD1-2171B234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2EAD277-D6BE-4171-9DB5-4DA345562838}" type="slidenum">
              <a:rPr lang="zh-TW" alt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zh-TW" altLang="en-US">
              <a:solidFill>
                <a:srgbClr val="FFFFFF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467983E-8956-F1A2-1FC4-8BD705FE7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972" y="630134"/>
            <a:ext cx="8410055" cy="559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66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BE1FDE98-AA0B-4365-BDCD-1DE000FF98A7}"/>
              </a:ext>
            </a:extLst>
          </p:cNvPr>
          <p:cNvSpPr/>
          <p:nvPr/>
        </p:nvSpPr>
        <p:spPr>
          <a:xfrm>
            <a:off x="6295597" y="626155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乒乓外掛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6112C42-3F09-6AAA-E799-A1E25AB6A674}"/>
              </a:ext>
            </a:extLst>
          </p:cNvPr>
          <p:cNvSpPr/>
          <p:nvPr/>
        </p:nvSpPr>
        <p:spPr>
          <a:xfrm>
            <a:off x="5257386" y="185297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DQN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551E63C-E590-D295-42B1-5A0A334695CC}"/>
              </a:ext>
            </a:extLst>
          </p:cNvPr>
          <p:cNvSpPr/>
          <p:nvPr/>
        </p:nvSpPr>
        <p:spPr>
          <a:xfrm>
            <a:off x="7751538" y="185297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PAIA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F343363-7B49-90D6-5A0B-D062A09390A8}"/>
              </a:ext>
            </a:extLst>
          </p:cNvPr>
          <p:cNvSpPr/>
          <p:nvPr/>
        </p:nvSpPr>
        <p:spPr>
          <a:xfrm>
            <a:off x="3535266" y="282071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訓練模型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EBE85C3-8CAC-7AC5-8A2F-617ED1F117D8}"/>
              </a:ext>
            </a:extLst>
          </p:cNvPr>
          <p:cNvSpPr/>
          <p:nvPr/>
        </p:nvSpPr>
        <p:spPr>
          <a:xfrm>
            <a:off x="6979506" y="282071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</a:p>
        </p:txBody>
      </p:sp>
      <p:cxnSp>
        <p:nvCxnSpPr>
          <p:cNvPr id="62" name="接點: 肘形 61">
            <a:extLst>
              <a:ext uri="{FF2B5EF4-FFF2-40B4-BE49-F238E27FC236}">
                <a16:creationId xmlns:a16="http://schemas.microsoft.com/office/drawing/2014/main" id="{C62223C7-FFE3-275E-F06A-4F8B6F5B6C4F}"/>
              </a:ext>
            </a:extLst>
          </p:cNvPr>
          <p:cNvCxnSpPr>
            <a:cxnSpLocks/>
            <a:stCxn id="57" idx="1"/>
            <a:endCxn id="58" idx="0"/>
          </p:cNvCxnSpPr>
          <p:nvPr/>
        </p:nvCxnSpPr>
        <p:spPr>
          <a:xfrm rot="10800000" flipV="1">
            <a:off x="5813647" y="885234"/>
            <a:ext cx="481951" cy="967737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接點: 肘形 62">
            <a:extLst>
              <a:ext uri="{FF2B5EF4-FFF2-40B4-BE49-F238E27FC236}">
                <a16:creationId xmlns:a16="http://schemas.microsoft.com/office/drawing/2014/main" id="{2069E51A-CBB5-56A4-0170-16E4A4469E26}"/>
              </a:ext>
            </a:extLst>
          </p:cNvPr>
          <p:cNvCxnSpPr>
            <a:cxnSpLocks/>
            <a:stCxn id="61" idx="0"/>
            <a:endCxn id="58" idx="3"/>
          </p:cNvCxnSpPr>
          <p:nvPr/>
        </p:nvCxnSpPr>
        <p:spPr>
          <a:xfrm rot="16200000" flipV="1">
            <a:off x="6598506" y="1883452"/>
            <a:ext cx="708660" cy="11658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接點: 肘形 63">
            <a:extLst>
              <a:ext uri="{FF2B5EF4-FFF2-40B4-BE49-F238E27FC236}">
                <a16:creationId xmlns:a16="http://schemas.microsoft.com/office/drawing/2014/main" id="{CC2B2788-E967-602A-766E-EE0317897375}"/>
              </a:ext>
            </a:extLst>
          </p:cNvPr>
          <p:cNvCxnSpPr>
            <a:cxnSpLocks/>
            <a:stCxn id="58" idx="1"/>
            <a:endCxn id="60" idx="0"/>
          </p:cNvCxnSpPr>
          <p:nvPr/>
        </p:nvCxnSpPr>
        <p:spPr>
          <a:xfrm rot="10800000" flipV="1">
            <a:off x="4091526" y="2112052"/>
            <a:ext cx="1165860" cy="7086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C2846E90-1B74-1A12-1659-E280FC2EEC72}"/>
              </a:ext>
            </a:extLst>
          </p:cNvPr>
          <p:cNvSpPr/>
          <p:nvPr/>
        </p:nvSpPr>
        <p:spPr>
          <a:xfrm>
            <a:off x="2363102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Qnet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10AB715-9784-034F-BCDD-7E863B3E1392}"/>
              </a:ext>
            </a:extLst>
          </p:cNvPr>
          <p:cNvSpPr/>
          <p:nvPr/>
        </p:nvSpPr>
        <p:spPr>
          <a:xfrm>
            <a:off x="3274565" y="403836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E2D6807-CBC3-B867-53E2-D69E3AE76EC4}"/>
              </a:ext>
            </a:extLst>
          </p:cNvPr>
          <p:cNvSpPr/>
          <p:nvPr/>
        </p:nvSpPr>
        <p:spPr>
          <a:xfrm>
            <a:off x="5097490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reward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E33D748-42F3-B821-1DB7-4F24015BED75}"/>
              </a:ext>
            </a:extLst>
          </p:cNvPr>
          <p:cNvSpPr/>
          <p:nvPr/>
        </p:nvSpPr>
        <p:spPr>
          <a:xfrm>
            <a:off x="4186028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68BC8A2-20F6-BFD1-D24D-5EE4067AFE9E}"/>
              </a:ext>
            </a:extLst>
          </p:cNvPr>
          <p:cNvSpPr/>
          <p:nvPr/>
        </p:nvSpPr>
        <p:spPr>
          <a:xfrm>
            <a:off x="1784620" y="5001720"/>
            <a:ext cx="830598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loss function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1CE0275-F28D-E57B-BD2B-AC4B607FB8FB}"/>
              </a:ext>
            </a:extLst>
          </p:cNvPr>
          <p:cNvSpPr/>
          <p:nvPr/>
        </p:nvSpPr>
        <p:spPr>
          <a:xfrm>
            <a:off x="2720228" y="4996942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儲存模型</a:t>
            </a:r>
          </a:p>
        </p:txBody>
      </p:sp>
      <p:cxnSp>
        <p:nvCxnSpPr>
          <p:cNvPr id="71" name="接點: 肘形 70">
            <a:extLst>
              <a:ext uri="{FF2B5EF4-FFF2-40B4-BE49-F238E27FC236}">
                <a16:creationId xmlns:a16="http://schemas.microsoft.com/office/drawing/2014/main" id="{B595348C-E42C-C80C-97F8-11FBE8D915BB}"/>
              </a:ext>
            </a:extLst>
          </p:cNvPr>
          <p:cNvCxnSpPr>
            <a:cxnSpLocks/>
            <a:stCxn id="65" idx="2"/>
            <a:endCxn id="69" idx="0"/>
          </p:cNvCxnSpPr>
          <p:nvPr/>
        </p:nvCxnSpPr>
        <p:spPr>
          <a:xfrm rot="5400000">
            <a:off x="2237477" y="4518969"/>
            <a:ext cx="445194" cy="520309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接點: 肘形 71">
            <a:extLst>
              <a:ext uri="{FF2B5EF4-FFF2-40B4-BE49-F238E27FC236}">
                <a16:creationId xmlns:a16="http://schemas.microsoft.com/office/drawing/2014/main" id="{27508D92-14F4-8DCD-9DCF-94BB4DF38962}"/>
              </a:ext>
            </a:extLst>
          </p:cNvPr>
          <p:cNvCxnSpPr>
            <a:stCxn id="65" idx="2"/>
            <a:endCxn id="70" idx="0"/>
          </p:cNvCxnSpPr>
          <p:nvPr/>
        </p:nvCxnSpPr>
        <p:spPr>
          <a:xfrm rot="16200000" flipH="1">
            <a:off x="2678583" y="4598171"/>
            <a:ext cx="440416" cy="357126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接點: 肘形 72">
            <a:extLst>
              <a:ext uri="{FF2B5EF4-FFF2-40B4-BE49-F238E27FC236}">
                <a16:creationId xmlns:a16="http://schemas.microsoft.com/office/drawing/2014/main" id="{D6BA0643-D3D1-2D80-C2F9-730F0E801EB1}"/>
              </a:ext>
            </a:extLst>
          </p:cNvPr>
          <p:cNvCxnSpPr>
            <a:cxnSpLocks/>
            <a:endCxn id="67" idx="0"/>
          </p:cNvCxnSpPr>
          <p:nvPr/>
        </p:nvCxnSpPr>
        <p:spPr>
          <a:xfrm rot="16200000" flipH="1">
            <a:off x="4422370" y="3006120"/>
            <a:ext cx="699496" cy="1364995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接點: 肘形 73">
            <a:extLst>
              <a:ext uri="{FF2B5EF4-FFF2-40B4-BE49-F238E27FC236}">
                <a16:creationId xmlns:a16="http://schemas.microsoft.com/office/drawing/2014/main" id="{B1AE9528-47EA-FC4B-B077-7BC7012217A5}"/>
              </a:ext>
            </a:extLst>
          </p:cNvPr>
          <p:cNvCxnSpPr>
            <a:cxnSpLocks/>
            <a:endCxn id="68" idx="0"/>
          </p:cNvCxnSpPr>
          <p:nvPr/>
        </p:nvCxnSpPr>
        <p:spPr>
          <a:xfrm rot="16200000" flipH="1">
            <a:off x="3966638" y="3461850"/>
            <a:ext cx="699498" cy="45353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接點: 肘形 74">
            <a:extLst>
              <a:ext uri="{FF2B5EF4-FFF2-40B4-BE49-F238E27FC236}">
                <a16:creationId xmlns:a16="http://schemas.microsoft.com/office/drawing/2014/main" id="{A84DAA53-F556-EEE7-203D-B2A9D172EA2E}"/>
              </a:ext>
            </a:extLst>
          </p:cNvPr>
          <p:cNvCxnSpPr>
            <a:cxnSpLocks/>
            <a:endCxn id="66" idx="0"/>
          </p:cNvCxnSpPr>
          <p:nvPr/>
        </p:nvCxnSpPr>
        <p:spPr>
          <a:xfrm rot="5400000">
            <a:off x="3530898" y="3479641"/>
            <a:ext cx="699495" cy="417954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接點: 肘形 75">
            <a:extLst>
              <a:ext uri="{FF2B5EF4-FFF2-40B4-BE49-F238E27FC236}">
                <a16:creationId xmlns:a16="http://schemas.microsoft.com/office/drawing/2014/main" id="{7267117B-DD1C-1081-5342-5C01E560A74A}"/>
              </a:ext>
            </a:extLst>
          </p:cNvPr>
          <p:cNvCxnSpPr>
            <a:cxnSpLocks/>
            <a:endCxn id="65" idx="0"/>
          </p:cNvCxnSpPr>
          <p:nvPr/>
        </p:nvCxnSpPr>
        <p:spPr>
          <a:xfrm rot="5400000">
            <a:off x="3055177" y="3003922"/>
            <a:ext cx="699496" cy="136939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811CF5BB-8485-B5D1-5BC8-3186CC4204CF}"/>
              </a:ext>
            </a:extLst>
          </p:cNvPr>
          <p:cNvSpPr/>
          <p:nvPr/>
        </p:nvSpPr>
        <p:spPr>
          <a:xfrm>
            <a:off x="5083197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state_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E4C94DE6-138F-B255-4E71-DF79E53F0B2C}"/>
              </a:ext>
            </a:extLst>
          </p:cNvPr>
          <p:cNvCxnSpPr>
            <a:stCxn id="67" idx="2"/>
            <a:endCxn id="77" idx="0"/>
          </p:cNvCxnSpPr>
          <p:nvPr/>
        </p:nvCxnSpPr>
        <p:spPr>
          <a:xfrm flipH="1">
            <a:off x="5440323" y="4556526"/>
            <a:ext cx="14293" cy="1281664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接點: 肘形 78">
            <a:extLst>
              <a:ext uri="{FF2B5EF4-FFF2-40B4-BE49-F238E27FC236}">
                <a16:creationId xmlns:a16="http://schemas.microsoft.com/office/drawing/2014/main" id="{C9508214-EACE-B6A0-FB09-499DA2FC0BE7}"/>
              </a:ext>
            </a:extLst>
          </p:cNvPr>
          <p:cNvCxnSpPr>
            <a:cxnSpLocks/>
            <a:stCxn id="59" idx="0"/>
            <a:endCxn id="57" idx="3"/>
          </p:cNvCxnSpPr>
          <p:nvPr/>
        </p:nvCxnSpPr>
        <p:spPr>
          <a:xfrm rot="16200000" flipV="1">
            <a:off x="7545800" y="1090974"/>
            <a:ext cx="967737" cy="5562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接點: 肘形 83">
            <a:extLst>
              <a:ext uri="{FF2B5EF4-FFF2-40B4-BE49-F238E27FC236}">
                <a16:creationId xmlns:a16="http://schemas.microsoft.com/office/drawing/2014/main" id="{C483FB57-6E74-893B-2DE9-6E6EDA8263D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42063" y="5652576"/>
            <a:ext cx="805107" cy="222208"/>
          </a:xfrm>
          <a:prstGeom prst="bentConnector3">
            <a:avLst>
              <a:gd name="adj1" fmla="val 98837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C4452DA7-B5CA-7BDF-4D73-DB5C79274D4D}"/>
              </a:ext>
            </a:extLst>
          </p:cNvPr>
          <p:cNvSpPr/>
          <p:nvPr/>
        </p:nvSpPr>
        <p:spPr>
          <a:xfrm>
            <a:off x="4263935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減分</a:t>
            </a:r>
          </a:p>
        </p:txBody>
      </p:sp>
      <p:cxnSp>
        <p:nvCxnSpPr>
          <p:cNvPr id="86" name="接點: 肘形 85">
            <a:extLst>
              <a:ext uri="{FF2B5EF4-FFF2-40B4-BE49-F238E27FC236}">
                <a16:creationId xmlns:a16="http://schemas.microsoft.com/office/drawing/2014/main" id="{FA4410FE-A7E9-65AA-4AF7-2B50094389F3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82512" y="5652576"/>
            <a:ext cx="867767" cy="222208"/>
          </a:xfrm>
          <a:prstGeom prst="bentConnector3">
            <a:avLst>
              <a:gd name="adj1" fmla="val 99526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B8539B6E-65F4-FCD4-D236-5F39D684C64E}"/>
              </a:ext>
            </a:extLst>
          </p:cNvPr>
          <p:cNvSpPr/>
          <p:nvPr/>
        </p:nvSpPr>
        <p:spPr>
          <a:xfrm>
            <a:off x="3435225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加分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3B6F343F-62E4-E130-AF96-44CFD524D85D}"/>
              </a:ext>
            </a:extLst>
          </p:cNvPr>
          <p:cNvSpPr/>
          <p:nvPr/>
        </p:nvSpPr>
        <p:spPr>
          <a:xfrm>
            <a:off x="6265254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Qnet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D0938DC-810B-F924-DB1D-0B6A762533FC}"/>
              </a:ext>
            </a:extLst>
          </p:cNvPr>
          <p:cNvSpPr/>
          <p:nvPr/>
        </p:nvSpPr>
        <p:spPr>
          <a:xfrm>
            <a:off x="7138663" y="403836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01CB7F4-316E-6B00-BFB7-3ED48B87433D}"/>
              </a:ext>
            </a:extLst>
          </p:cNvPr>
          <p:cNvSpPr/>
          <p:nvPr/>
        </p:nvSpPr>
        <p:spPr>
          <a:xfrm>
            <a:off x="8022807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</a:p>
        </p:txBody>
      </p:sp>
      <p:cxnSp>
        <p:nvCxnSpPr>
          <p:cNvPr id="91" name="直線接點 90">
            <a:extLst>
              <a:ext uri="{FF2B5EF4-FFF2-40B4-BE49-F238E27FC236}">
                <a16:creationId xmlns:a16="http://schemas.microsoft.com/office/drawing/2014/main" id="{030D24F7-7AC9-667D-9225-1F01981D345D}"/>
              </a:ext>
            </a:extLst>
          </p:cNvPr>
          <p:cNvCxnSpPr>
            <a:stCxn id="89" idx="0"/>
            <a:endCxn id="61" idx="2"/>
          </p:cNvCxnSpPr>
          <p:nvPr/>
        </p:nvCxnSpPr>
        <p:spPr>
          <a:xfrm flipV="1">
            <a:off x="7535766" y="3338872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接點: 肘形 91">
            <a:extLst>
              <a:ext uri="{FF2B5EF4-FFF2-40B4-BE49-F238E27FC236}">
                <a16:creationId xmlns:a16="http://schemas.microsoft.com/office/drawing/2014/main" id="{B7484596-0461-7949-FDB6-FC56DBD1C1C6}"/>
              </a:ext>
            </a:extLst>
          </p:cNvPr>
          <p:cNvCxnSpPr>
            <a:cxnSpLocks/>
            <a:stCxn id="90" idx="0"/>
          </p:cNvCxnSpPr>
          <p:nvPr/>
        </p:nvCxnSpPr>
        <p:spPr>
          <a:xfrm rot="16200000" flipV="1">
            <a:off x="7853626" y="3512058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接點: 肘形 92">
            <a:extLst>
              <a:ext uri="{FF2B5EF4-FFF2-40B4-BE49-F238E27FC236}">
                <a16:creationId xmlns:a16="http://schemas.microsoft.com/office/drawing/2014/main" id="{14332CBF-B463-1098-1E9A-F113C0F4151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22380" y="3821490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字方塊 138">
            <a:extLst>
              <a:ext uri="{FF2B5EF4-FFF2-40B4-BE49-F238E27FC236}">
                <a16:creationId xmlns:a16="http://schemas.microsoft.com/office/drawing/2014/main" id="{859C5946-DB39-50C7-CAFC-CD4947A57794}"/>
              </a:ext>
            </a:extLst>
          </p:cNvPr>
          <p:cNvSpPr txBox="1"/>
          <p:nvPr/>
        </p:nvSpPr>
        <p:spPr>
          <a:xfrm>
            <a:off x="123084" y="12851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乒乓外掛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1" name="投影片編號版面配置區 140">
            <a:extLst>
              <a:ext uri="{FF2B5EF4-FFF2-40B4-BE49-F238E27FC236}">
                <a16:creationId xmlns:a16="http://schemas.microsoft.com/office/drawing/2014/main" id="{15B817CD-3889-2425-9EF4-CEEDDBBFF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14</a:t>
            </a:fld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7781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2D74AAB-C2CC-4477-9EDB-A901BFAB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6CF29D-6625-4895-A2B1-BAEB14A3401C}"/>
              </a:ext>
            </a:extLst>
          </p:cNvPr>
          <p:cNvSpPr/>
          <p:nvPr/>
        </p:nvSpPr>
        <p:spPr>
          <a:xfrm>
            <a:off x="3274145" y="1375175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26A607-220D-4992-82BF-AA90A9774CB6}"/>
              </a:ext>
            </a:extLst>
          </p:cNvPr>
          <p:cNvSpPr/>
          <p:nvPr/>
        </p:nvSpPr>
        <p:spPr>
          <a:xfrm>
            <a:off x="6575392" y="1348765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152320-3E62-4465-A1F3-96402E65B7A9}"/>
              </a:ext>
            </a:extLst>
          </p:cNvPr>
          <p:cNvSpPr/>
          <p:nvPr/>
        </p:nvSpPr>
        <p:spPr>
          <a:xfrm>
            <a:off x="2702013" y="2566419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球和板子的座標差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0788C8-6C2C-4D38-9937-4845F0C1DAB5}"/>
              </a:ext>
            </a:extLst>
          </p:cNvPr>
          <p:cNvSpPr/>
          <p:nvPr/>
        </p:nvSpPr>
        <p:spPr>
          <a:xfrm>
            <a:off x="4489966" y="2566419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球移動的角度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301FC09-9614-47B9-BFDC-84591238DF9F}"/>
              </a:ext>
            </a:extLst>
          </p:cNvPr>
          <p:cNvCxnSpPr>
            <a:cxnSpLocks/>
          </p:cNvCxnSpPr>
          <p:nvPr/>
        </p:nvCxnSpPr>
        <p:spPr>
          <a:xfrm flipV="1">
            <a:off x="3972525" y="1866925"/>
            <a:ext cx="0" cy="4759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72338804-C143-48FF-8A6D-9611B293D042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80014" y="2040714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A59C4C01-F106-460B-B96A-EE866CBF536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59139" y="2349543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5233890-806D-4BEA-BE3A-46BA4217D6D9}"/>
              </a:ext>
            </a:extLst>
          </p:cNvPr>
          <p:cNvSpPr/>
          <p:nvPr/>
        </p:nvSpPr>
        <p:spPr>
          <a:xfrm>
            <a:off x="6032851" y="2563229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左移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6300B4-B6ED-4589-8423-85DD81F8BE5E}"/>
              </a:ext>
            </a:extLst>
          </p:cNvPr>
          <p:cNvSpPr/>
          <p:nvPr/>
        </p:nvSpPr>
        <p:spPr>
          <a:xfrm>
            <a:off x="6906260" y="2563229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不動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6E8196-520F-419D-A24F-895BBFE4E215}"/>
              </a:ext>
            </a:extLst>
          </p:cNvPr>
          <p:cNvSpPr/>
          <p:nvPr/>
        </p:nvSpPr>
        <p:spPr>
          <a:xfrm>
            <a:off x="7790404" y="2563229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右移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2806F987-5662-47CF-A6CE-478D9F6BD17D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303363" y="1863735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6E32BB91-6FA6-4879-B372-ED866B4028F8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7621223" y="2036921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B46DA9E8-B18C-4CB3-9CCE-58917ABDB48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89977" y="2346353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87902CC7-3852-417D-AF2A-48B3FEDC13DF}"/>
              </a:ext>
            </a:extLst>
          </p:cNvPr>
          <p:cNvSpPr/>
          <p:nvPr/>
        </p:nvSpPr>
        <p:spPr>
          <a:xfrm>
            <a:off x="2293360" y="4204102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加分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A04B81-1E35-42D5-98D4-2F74091BE7E2}"/>
              </a:ext>
            </a:extLst>
          </p:cNvPr>
          <p:cNvSpPr/>
          <p:nvPr/>
        </p:nvSpPr>
        <p:spPr>
          <a:xfrm>
            <a:off x="1164242" y="5415376"/>
            <a:ext cx="1208993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球的座標、重置板子座標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71FEA9F-DD2C-4D70-B100-655BBED1912A}"/>
              </a:ext>
            </a:extLst>
          </p:cNvPr>
          <p:cNvSpPr/>
          <p:nvPr/>
        </p:nvSpPr>
        <p:spPr>
          <a:xfrm>
            <a:off x="2587471" y="541856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遊戲持續進行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87A3DB9-AF1E-405E-9A3F-C30056474E96}"/>
              </a:ext>
            </a:extLst>
          </p:cNvPr>
          <p:cNvSpPr/>
          <p:nvPr/>
        </p:nvSpPr>
        <p:spPr>
          <a:xfrm>
            <a:off x="3538626" y="5418566"/>
            <a:ext cx="156956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球撞板子後的角度符合球和磚塊的座標差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7B4FDEE-B927-46A4-AA4A-E1A5DE2706A8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84574" y="4719072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0691C4D4-0547-4EE6-84A2-44B0DA07566A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21994" y="4901402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8E67B9AB-CFB7-4BE0-9AD0-E0BB2FDA601C}"/>
              </a:ext>
            </a:extLst>
          </p:cNvPr>
          <p:cNvCxnSpPr>
            <a:cxnSpLocks/>
            <a:endCxn id="18" idx="0"/>
          </p:cNvCxnSpPr>
          <p:nvPr/>
        </p:nvCxnSpPr>
        <p:spPr>
          <a:xfrm rot="10800000" flipV="1">
            <a:off x="1768740" y="5201690"/>
            <a:ext cx="1455873" cy="213686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E7BA1938-253B-4183-A37C-E388A49BAB53}"/>
              </a:ext>
            </a:extLst>
          </p:cNvPr>
          <p:cNvSpPr/>
          <p:nvPr/>
        </p:nvSpPr>
        <p:spPr>
          <a:xfrm>
            <a:off x="5194683" y="5415376"/>
            <a:ext cx="1353837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球的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座標、重置板子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座標範圍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C75DD86D-6397-4750-AB0C-4E4DD49D69A2}"/>
              </a:ext>
            </a:extLst>
          </p:cNvPr>
          <p:cNvCxnSpPr>
            <a:cxnSpLocks/>
            <a:stCxn id="24" idx="0"/>
          </p:cNvCxnSpPr>
          <p:nvPr/>
        </p:nvCxnSpPr>
        <p:spPr>
          <a:xfrm rot="16200000" flipV="1">
            <a:off x="4845113" y="4388886"/>
            <a:ext cx="213417" cy="1839563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827F7D6C-9476-4BB0-B9AD-93580A156AC0}"/>
              </a:ext>
            </a:extLst>
          </p:cNvPr>
          <p:cNvSpPr/>
          <p:nvPr/>
        </p:nvSpPr>
        <p:spPr>
          <a:xfrm>
            <a:off x="7602356" y="4207292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減分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5C339DB-B8C0-44EA-8187-FE73269F49D7}"/>
              </a:ext>
            </a:extLst>
          </p:cNvPr>
          <p:cNvSpPr/>
          <p:nvPr/>
        </p:nvSpPr>
        <p:spPr>
          <a:xfrm>
            <a:off x="7814351" y="542175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球的高度低於板子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7178C5E-56F8-4305-A47E-5886474F00B4}"/>
              </a:ext>
            </a:extLst>
          </p:cNvPr>
          <p:cNvSpPr/>
          <p:nvPr/>
        </p:nvSpPr>
        <p:spPr>
          <a:xfrm>
            <a:off x="8737413" y="5421756"/>
            <a:ext cx="957493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球的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座標、遠離板子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座標範圍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D6EC7DA2-9993-4AC6-B6E4-D2E951DF0E77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8211454" y="4722262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3CDAAEB7-ECFC-4D8D-AF92-3195473AD8EF}"/>
              </a:ext>
            </a:extLst>
          </p:cNvPr>
          <p:cNvCxnSpPr>
            <a:cxnSpLocks/>
            <a:stCxn id="28" idx="0"/>
          </p:cNvCxnSpPr>
          <p:nvPr/>
        </p:nvCxnSpPr>
        <p:spPr>
          <a:xfrm rot="16200000" flipV="1">
            <a:off x="8606964" y="4812560"/>
            <a:ext cx="213686" cy="1004706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232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0A1D9FA-72B4-F3E8-E58D-5AE5561F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A73E3D-6049-F858-F80E-C6E93912A4D7}"/>
              </a:ext>
            </a:extLst>
          </p:cNvPr>
          <p:cNvSpPr/>
          <p:nvPr/>
        </p:nvSpPr>
        <p:spPr>
          <a:xfrm>
            <a:off x="6295597" y="626155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打磚塊外掛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687A61-9CA5-78EE-6337-F0A8677AA2E0}"/>
              </a:ext>
            </a:extLst>
          </p:cNvPr>
          <p:cNvSpPr/>
          <p:nvPr/>
        </p:nvSpPr>
        <p:spPr>
          <a:xfrm>
            <a:off x="5257386" y="185297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DQN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AE6075-F486-C935-0CDB-A3572B13D9AD}"/>
              </a:ext>
            </a:extLst>
          </p:cNvPr>
          <p:cNvSpPr/>
          <p:nvPr/>
        </p:nvSpPr>
        <p:spPr>
          <a:xfrm>
            <a:off x="7751538" y="185297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PAIA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2ED133-4BFC-4482-9FAA-F734461CAA0F}"/>
              </a:ext>
            </a:extLst>
          </p:cNvPr>
          <p:cNvSpPr/>
          <p:nvPr/>
        </p:nvSpPr>
        <p:spPr>
          <a:xfrm>
            <a:off x="3535266" y="282071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訓練模型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970E29-9959-C3CF-0D92-1B01A4B4C711}"/>
              </a:ext>
            </a:extLst>
          </p:cNvPr>
          <p:cNvSpPr/>
          <p:nvPr/>
        </p:nvSpPr>
        <p:spPr>
          <a:xfrm>
            <a:off x="6979506" y="282071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</a:p>
        </p:txBody>
      </p: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55AF0F17-DD83-0BAE-4AE2-071B2C691218}"/>
              </a:ext>
            </a:extLst>
          </p:cNvPr>
          <p:cNvCxnSpPr>
            <a:cxnSpLocks/>
            <a:stCxn id="3" idx="1"/>
            <a:endCxn id="4" idx="0"/>
          </p:cNvCxnSpPr>
          <p:nvPr/>
        </p:nvCxnSpPr>
        <p:spPr>
          <a:xfrm rot="10800000" flipV="1">
            <a:off x="5813647" y="885234"/>
            <a:ext cx="481951" cy="967737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A8B892EA-F79D-91D3-1B61-D8F6B6028892}"/>
              </a:ext>
            </a:extLst>
          </p:cNvPr>
          <p:cNvCxnSpPr>
            <a:cxnSpLocks/>
            <a:stCxn id="7" idx="0"/>
            <a:endCxn id="4" idx="3"/>
          </p:cNvCxnSpPr>
          <p:nvPr/>
        </p:nvCxnSpPr>
        <p:spPr>
          <a:xfrm rot="16200000" flipV="1">
            <a:off x="6598506" y="1883452"/>
            <a:ext cx="708660" cy="11658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5A24086D-17C5-3F47-E640-5ABD1FB118A0}"/>
              </a:ext>
            </a:extLst>
          </p:cNvPr>
          <p:cNvCxnSpPr>
            <a:cxnSpLocks/>
            <a:stCxn id="4" idx="1"/>
            <a:endCxn id="6" idx="0"/>
          </p:cNvCxnSpPr>
          <p:nvPr/>
        </p:nvCxnSpPr>
        <p:spPr>
          <a:xfrm rot="10800000" flipV="1">
            <a:off x="4091526" y="2112052"/>
            <a:ext cx="1165860" cy="7086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44AE2871-5A05-53BB-63AE-F4C93E219807}"/>
              </a:ext>
            </a:extLst>
          </p:cNvPr>
          <p:cNvSpPr/>
          <p:nvPr/>
        </p:nvSpPr>
        <p:spPr>
          <a:xfrm>
            <a:off x="2363102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Qnet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A58CC6-2EB9-3B8B-44E1-93E2CF06AED4}"/>
              </a:ext>
            </a:extLst>
          </p:cNvPr>
          <p:cNvSpPr/>
          <p:nvPr/>
        </p:nvSpPr>
        <p:spPr>
          <a:xfrm>
            <a:off x="3274565" y="403836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D62AB2-4DEC-0585-BCA8-F3654B217653}"/>
              </a:ext>
            </a:extLst>
          </p:cNvPr>
          <p:cNvSpPr/>
          <p:nvPr/>
        </p:nvSpPr>
        <p:spPr>
          <a:xfrm>
            <a:off x="5097490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reward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10E5FB-E35F-4A0B-3979-0714E7CA651E}"/>
              </a:ext>
            </a:extLst>
          </p:cNvPr>
          <p:cNvSpPr/>
          <p:nvPr/>
        </p:nvSpPr>
        <p:spPr>
          <a:xfrm>
            <a:off x="4186028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04F67C-C822-964C-9360-FE6D7CC578F9}"/>
              </a:ext>
            </a:extLst>
          </p:cNvPr>
          <p:cNvSpPr/>
          <p:nvPr/>
        </p:nvSpPr>
        <p:spPr>
          <a:xfrm>
            <a:off x="1784620" y="5001720"/>
            <a:ext cx="830598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loss function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56D0C4-9FB9-3F77-CD2B-2A6FF669010B}"/>
              </a:ext>
            </a:extLst>
          </p:cNvPr>
          <p:cNvSpPr/>
          <p:nvPr/>
        </p:nvSpPr>
        <p:spPr>
          <a:xfrm>
            <a:off x="2720228" y="4996942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儲存模型</a:t>
            </a:r>
          </a:p>
        </p:txBody>
      </p: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FCF6E88C-BE2A-BE72-F0BC-13F60B5C8CEE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rot="5400000">
            <a:off x="2237477" y="4518969"/>
            <a:ext cx="445194" cy="520309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816E836E-FFA7-5D57-0359-4E2116688EC9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 rot="16200000" flipH="1">
            <a:off x="2678583" y="4598171"/>
            <a:ext cx="440416" cy="357126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2B3B441F-9D49-ABF5-C6E9-845D0EE03F93}"/>
              </a:ext>
            </a:extLst>
          </p:cNvPr>
          <p:cNvCxnSpPr>
            <a:cxnSpLocks/>
            <a:endCxn id="13" idx="0"/>
          </p:cNvCxnSpPr>
          <p:nvPr/>
        </p:nvCxnSpPr>
        <p:spPr>
          <a:xfrm rot="16200000" flipH="1">
            <a:off x="4422370" y="3006120"/>
            <a:ext cx="699496" cy="1364995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ADAC52D4-5D68-5EAC-56A5-1F03C712A272}"/>
              </a:ext>
            </a:extLst>
          </p:cNvPr>
          <p:cNvCxnSpPr>
            <a:cxnSpLocks/>
            <a:endCxn id="14" idx="0"/>
          </p:cNvCxnSpPr>
          <p:nvPr/>
        </p:nvCxnSpPr>
        <p:spPr>
          <a:xfrm rot="16200000" flipH="1">
            <a:off x="3966638" y="3461850"/>
            <a:ext cx="699498" cy="45353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C4ADCE46-B2E2-6ECF-2207-339A64A5F926}"/>
              </a:ext>
            </a:extLst>
          </p:cNvPr>
          <p:cNvCxnSpPr>
            <a:cxnSpLocks/>
            <a:endCxn id="12" idx="0"/>
          </p:cNvCxnSpPr>
          <p:nvPr/>
        </p:nvCxnSpPr>
        <p:spPr>
          <a:xfrm rot="5400000">
            <a:off x="3530898" y="3479641"/>
            <a:ext cx="699495" cy="417954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DDB86132-0924-BE8D-56B4-FC3B4BD60EBD}"/>
              </a:ext>
            </a:extLst>
          </p:cNvPr>
          <p:cNvCxnSpPr>
            <a:cxnSpLocks/>
            <a:endCxn id="11" idx="0"/>
          </p:cNvCxnSpPr>
          <p:nvPr/>
        </p:nvCxnSpPr>
        <p:spPr>
          <a:xfrm rot="5400000">
            <a:off x="3055177" y="3003922"/>
            <a:ext cx="699496" cy="136939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D605518A-3BD2-9A8F-0B3A-588A3E46BDDF}"/>
              </a:ext>
            </a:extLst>
          </p:cNvPr>
          <p:cNvSpPr/>
          <p:nvPr/>
        </p:nvSpPr>
        <p:spPr>
          <a:xfrm>
            <a:off x="5083197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state_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BCA612AF-24EB-5FF8-05FA-87B8D8073B19}"/>
              </a:ext>
            </a:extLst>
          </p:cNvPr>
          <p:cNvCxnSpPr>
            <a:stCxn id="13" idx="2"/>
            <a:endCxn id="23" idx="0"/>
          </p:cNvCxnSpPr>
          <p:nvPr/>
        </p:nvCxnSpPr>
        <p:spPr>
          <a:xfrm flipH="1">
            <a:off x="5440323" y="4556526"/>
            <a:ext cx="14293" cy="1281664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A846B3F7-A67A-A65C-4FF6-54E55654D5B6}"/>
              </a:ext>
            </a:extLst>
          </p:cNvPr>
          <p:cNvCxnSpPr>
            <a:cxnSpLocks/>
            <a:stCxn id="5" idx="0"/>
            <a:endCxn id="3" idx="3"/>
          </p:cNvCxnSpPr>
          <p:nvPr/>
        </p:nvCxnSpPr>
        <p:spPr>
          <a:xfrm rot="16200000" flipV="1">
            <a:off x="7545800" y="1090974"/>
            <a:ext cx="967737" cy="5562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接點: 肘形 25">
            <a:extLst>
              <a:ext uri="{FF2B5EF4-FFF2-40B4-BE49-F238E27FC236}">
                <a16:creationId xmlns:a16="http://schemas.microsoft.com/office/drawing/2014/main" id="{08417BE5-BBAC-BF09-E5F7-DBACA0C307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42063" y="5652576"/>
            <a:ext cx="805107" cy="222208"/>
          </a:xfrm>
          <a:prstGeom prst="bentConnector3">
            <a:avLst>
              <a:gd name="adj1" fmla="val 98837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1B04A7AF-F5CD-1F62-1C69-D1DC68E10045}"/>
              </a:ext>
            </a:extLst>
          </p:cNvPr>
          <p:cNvSpPr/>
          <p:nvPr/>
        </p:nvSpPr>
        <p:spPr>
          <a:xfrm>
            <a:off x="4263935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減分</a:t>
            </a:r>
          </a:p>
        </p:txBody>
      </p: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E0329717-FB6B-ED55-D07E-115ADB0AD14D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82512" y="5652576"/>
            <a:ext cx="867767" cy="222208"/>
          </a:xfrm>
          <a:prstGeom prst="bentConnector3">
            <a:avLst>
              <a:gd name="adj1" fmla="val 99526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3485D297-69D3-6B82-8ACC-2048C1B867BC}"/>
              </a:ext>
            </a:extLst>
          </p:cNvPr>
          <p:cNvSpPr/>
          <p:nvPr/>
        </p:nvSpPr>
        <p:spPr>
          <a:xfrm>
            <a:off x="3435225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加分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2DC333-2896-C992-B6D7-9D3769D29F58}"/>
              </a:ext>
            </a:extLst>
          </p:cNvPr>
          <p:cNvSpPr/>
          <p:nvPr/>
        </p:nvSpPr>
        <p:spPr>
          <a:xfrm>
            <a:off x="6265254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Qnet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6D875F2-A812-88B0-7E52-99C0D118DC64}"/>
              </a:ext>
            </a:extLst>
          </p:cNvPr>
          <p:cNvSpPr/>
          <p:nvPr/>
        </p:nvSpPr>
        <p:spPr>
          <a:xfrm>
            <a:off x="7138663" y="403836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1F08C7D-052D-8DFA-0A19-161A81AD98BC}"/>
              </a:ext>
            </a:extLst>
          </p:cNvPr>
          <p:cNvSpPr/>
          <p:nvPr/>
        </p:nvSpPr>
        <p:spPr>
          <a:xfrm>
            <a:off x="8022807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F760EA98-7496-F983-2D7E-3AB3BE528AD4}"/>
              </a:ext>
            </a:extLst>
          </p:cNvPr>
          <p:cNvCxnSpPr>
            <a:stCxn id="31" idx="0"/>
            <a:endCxn id="7" idx="2"/>
          </p:cNvCxnSpPr>
          <p:nvPr/>
        </p:nvCxnSpPr>
        <p:spPr>
          <a:xfrm flipV="1">
            <a:off x="7535766" y="3338872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接點: 肘形 33">
            <a:extLst>
              <a:ext uri="{FF2B5EF4-FFF2-40B4-BE49-F238E27FC236}">
                <a16:creationId xmlns:a16="http://schemas.microsoft.com/office/drawing/2014/main" id="{41BEF2AB-A082-EA5F-4D7B-8EACC02F3AD1}"/>
              </a:ext>
            </a:extLst>
          </p:cNvPr>
          <p:cNvCxnSpPr>
            <a:cxnSpLocks/>
            <a:stCxn id="32" idx="0"/>
          </p:cNvCxnSpPr>
          <p:nvPr/>
        </p:nvCxnSpPr>
        <p:spPr>
          <a:xfrm rot="16200000" flipV="1">
            <a:off x="7853626" y="3512058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接點: 肘形 34">
            <a:extLst>
              <a:ext uri="{FF2B5EF4-FFF2-40B4-BE49-F238E27FC236}">
                <a16:creationId xmlns:a16="http://schemas.microsoft.com/office/drawing/2014/main" id="{EB193CD3-AB7A-119B-DBE8-201777238018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22380" y="3821490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B6F87E8-E0D9-0892-FEB5-7370D2DEBEA6}"/>
              </a:ext>
            </a:extLst>
          </p:cNvPr>
          <p:cNvSpPr txBox="1"/>
          <p:nvPr/>
        </p:nvSpPr>
        <p:spPr>
          <a:xfrm>
            <a:off x="108474" y="1573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打磚塊外掛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28197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9FAC096-6F61-4C97-8DDD-19E5D492BA0A}"/>
              </a:ext>
            </a:extLst>
          </p:cNvPr>
          <p:cNvSpPr/>
          <p:nvPr/>
        </p:nvSpPr>
        <p:spPr>
          <a:xfrm>
            <a:off x="3522720" y="2166986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BEB154-D2F7-44BC-AFC5-AB7047F7BD3A}"/>
              </a:ext>
            </a:extLst>
          </p:cNvPr>
          <p:cNvSpPr/>
          <p:nvPr/>
        </p:nvSpPr>
        <p:spPr>
          <a:xfrm>
            <a:off x="6693915" y="2143766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2A44DD-A649-4496-B3D0-B4430B766A1D}"/>
              </a:ext>
            </a:extLst>
          </p:cNvPr>
          <p:cNvSpPr/>
          <p:nvPr/>
        </p:nvSpPr>
        <p:spPr>
          <a:xfrm>
            <a:off x="2950588" y="335823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球和板子的座標差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7F4F57-3B16-4336-B965-B7FC1D832820}"/>
              </a:ext>
            </a:extLst>
          </p:cNvPr>
          <p:cNvSpPr/>
          <p:nvPr/>
        </p:nvSpPr>
        <p:spPr>
          <a:xfrm>
            <a:off x="3823997" y="3358230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球和最近磚塊的座標差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4114C5-575D-4D34-8D0F-414D3B52B455}"/>
              </a:ext>
            </a:extLst>
          </p:cNvPr>
          <p:cNvSpPr/>
          <p:nvPr/>
        </p:nvSpPr>
        <p:spPr>
          <a:xfrm>
            <a:off x="4738541" y="335823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球移動的角度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31B11ED8-894C-4A0A-B8A1-F0F9A6567B36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4221100" y="2658736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6420F919-1F59-4B12-92C9-2F8A7A55A26F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28589" y="2832525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3EDEACE0-C5F3-4493-A25D-95AEFBB6D4B2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7714" y="3141354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B13D826F-E6E2-4ECB-BC9C-788CBBE7D2DE}"/>
              </a:ext>
            </a:extLst>
          </p:cNvPr>
          <p:cNvSpPr/>
          <p:nvPr/>
        </p:nvSpPr>
        <p:spPr>
          <a:xfrm>
            <a:off x="6151374" y="335823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左移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ECC333-D878-4257-B5AE-5CC609EAF2BE}"/>
              </a:ext>
            </a:extLst>
          </p:cNvPr>
          <p:cNvSpPr/>
          <p:nvPr/>
        </p:nvSpPr>
        <p:spPr>
          <a:xfrm>
            <a:off x="7024783" y="3358230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不動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6A5C45-0FAF-4134-A26E-C5FE63EDAF07}"/>
              </a:ext>
            </a:extLst>
          </p:cNvPr>
          <p:cNvSpPr/>
          <p:nvPr/>
        </p:nvSpPr>
        <p:spPr>
          <a:xfrm>
            <a:off x="7908927" y="335823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右移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A53BDF3-03E6-402B-AD38-5B95534230D3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7421886" y="2658736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615FDF5D-D499-4D81-A469-3D0EB68CF1CA}"/>
              </a:ext>
            </a:extLst>
          </p:cNvPr>
          <p:cNvCxnSpPr>
            <a:cxnSpLocks/>
            <a:stCxn id="16" idx="0"/>
          </p:cNvCxnSpPr>
          <p:nvPr/>
        </p:nvCxnSpPr>
        <p:spPr>
          <a:xfrm rot="16200000" flipV="1">
            <a:off x="7739746" y="2831922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7C1A12BF-79A2-4E42-BE0B-B888B721F6C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08500" y="3141354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909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D8D359-41AD-99DF-DB99-80B7E11E9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18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E768563-F61D-0BEA-D275-B1833987F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118940"/>
              </p:ext>
            </p:extLst>
          </p:nvPr>
        </p:nvGraphicFramePr>
        <p:xfrm>
          <a:off x="2539238" y="3825719"/>
          <a:ext cx="7113524" cy="22786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0750">
                  <a:extLst>
                    <a:ext uri="{9D8B030D-6E8A-4147-A177-3AD203B41FA5}">
                      <a16:colId xmlns:a16="http://schemas.microsoft.com/office/drawing/2014/main" val="3140373975"/>
                    </a:ext>
                  </a:extLst>
                </a:gridCol>
                <a:gridCol w="6382774">
                  <a:extLst>
                    <a:ext uri="{9D8B030D-6E8A-4147-A177-3AD203B41FA5}">
                      <a16:colId xmlns:a16="http://schemas.microsoft.com/office/drawing/2014/main" val="3972773452"/>
                    </a:ext>
                  </a:extLst>
                </a:gridCol>
              </a:tblGrid>
              <a:tr h="455733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choose_action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</a:t>
                      </a: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Qnet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97602"/>
                  </a:ext>
                </a:extLst>
              </a:tr>
              <a:tr h="455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state(integer)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：當前狀態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9925979"/>
                  </a:ext>
                </a:extLst>
              </a:tr>
              <a:tr h="455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輸出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action(integer)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：左移、右移</a:t>
                      </a:r>
                      <a:r>
                        <a:rPr lang="zh-TW" alt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不動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擇一輸出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0532342"/>
                  </a:ext>
                </a:extLst>
              </a:tr>
              <a:tr h="455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參數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εGreedy: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貪婪度</a:t>
                      </a: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選擇最佳選的機率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4824387"/>
                  </a:ext>
                </a:extLst>
              </a:tr>
              <a:tr h="455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方法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輸入當前狀態後，</a:t>
                      </a: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Qnet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輸出對應動作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909651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6A05FE2-5612-5F8F-674F-E7BF88B64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533816"/>
              </p:ext>
            </p:extLst>
          </p:nvPr>
        </p:nvGraphicFramePr>
        <p:xfrm>
          <a:off x="2539238" y="448088"/>
          <a:ext cx="7113524" cy="25841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0750">
                  <a:extLst>
                    <a:ext uri="{9D8B030D-6E8A-4147-A177-3AD203B41FA5}">
                      <a16:colId xmlns:a16="http://schemas.microsoft.com/office/drawing/2014/main" val="311780508"/>
                    </a:ext>
                  </a:extLst>
                </a:gridCol>
                <a:gridCol w="6382774">
                  <a:extLst>
                    <a:ext uri="{9D8B030D-6E8A-4147-A177-3AD203B41FA5}">
                      <a16:colId xmlns:a16="http://schemas.microsoft.com/office/drawing/2014/main" val="75025540"/>
                    </a:ext>
                  </a:extLst>
                </a:gridCol>
              </a:tblGrid>
              <a:tr h="312758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Learn (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機器學習</a:t>
                      </a: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415959"/>
                  </a:ext>
                </a:extLst>
              </a:tr>
              <a:tr h="893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state(integer)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：當前狀態</a:t>
                      </a:r>
                    </a:p>
                    <a:p>
                      <a:pPr>
                        <a:buNone/>
                      </a:pP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next_state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(integer)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：下個狀態</a:t>
                      </a:r>
                    </a:p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action(string)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：左移、右移</a:t>
                      </a:r>
                    </a:p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reward(integer)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：根據我們定義的獎勵機制來給分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2078173"/>
                  </a:ext>
                </a:extLst>
              </a:tr>
              <a:tr h="312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輸出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q_update(float)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：根據輸入計算出</a:t>
                      </a: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</a:t>
                      </a: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(Qsa)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2805028"/>
                  </a:ext>
                </a:extLst>
              </a:tr>
              <a:tr h="446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參數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discount_factor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(float) : 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折扣因子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(γ=0.9)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6510569"/>
                  </a:ext>
                </a:extLst>
              </a:tr>
              <a:tr h="312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方法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根據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loss </a:t>
                      </a: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funtion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計算來更新</a:t>
                      </a: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Qnet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46283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AA5079-A2C1-F691-A37F-CAD6B39BD25B}"/>
              </a:ext>
            </a:extLst>
          </p:cNvPr>
          <p:cNvSpPr txBox="1"/>
          <p:nvPr/>
        </p:nvSpPr>
        <p:spPr>
          <a:xfrm>
            <a:off x="566928" y="297287"/>
            <a:ext cx="1207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405320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3A6054F-EA64-1C2A-1089-68E7CC631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19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F011E9F-1472-FA5B-485B-13B76E808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195090"/>
              </p:ext>
            </p:extLst>
          </p:nvPr>
        </p:nvGraphicFramePr>
        <p:xfrm>
          <a:off x="2453208" y="727075"/>
          <a:ext cx="7285581" cy="2897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8425">
                  <a:extLst>
                    <a:ext uri="{9D8B030D-6E8A-4147-A177-3AD203B41FA5}">
                      <a16:colId xmlns:a16="http://schemas.microsoft.com/office/drawing/2014/main" val="9802000"/>
                    </a:ext>
                  </a:extLst>
                </a:gridCol>
                <a:gridCol w="6537156">
                  <a:extLst>
                    <a:ext uri="{9D8B030D-6E8A-4147-A177-3AD203B41FA5}">
                      <a16:colId xmlns:a16="http://schemas.microsoft.com/office/drawing/2014/main" val="2578335084"/>
                    </a:ext>
                  </a:extLst>
                </a:gridCol>
              </a:tblGrid>
              <a:tr h="417228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State  (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狀態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756852"/>
                  </a:ext>
                </a:extLst>
              </a:tr>
              <a:tr h="4172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scene_info 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遊戲內建資訊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2887357"/>
                  </a:ext>
                </a:extLst>
              </a:tr>
              <a:tr h="4712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輸出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V1: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板子和球的座標差</a:t>
                      </a:r>
                    </a:p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V2: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板子和球落點的座標差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利用速度和座標去計算落點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1274693"/>
                  </a:ext>
                </a:extLst>
              </a:tr>
              <a:tr h="9424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參數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table_width(int):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球桌寬度</a:t>
                      </a:r>
                    </a:p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table_height(int):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球桌高度</a:t>
                      </a:r>
                    </a:p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platform_1P_y(int):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玩家一高度</a:t>
                      </a:r>
                    </a:p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platform_2P_y(int):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玩家二高度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752320"/>
                  </a:ext>
                </a:extLst>
              </a:tr>
              <a:tr h="4172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方法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輸入遊戲內建的資訊轉換成需要的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state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格式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7061728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836B04D-F945-4776-05D0-41948728B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60860"/>
              </p:ext>
            </p:extLst>
          </p:nvPr>
        </p:nvGraphicFramePr>
        <p:xfrm>
          <a:off x="2453209" y="4387310"/>
          <a:ext cx="7285581" cy="1903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8425">
                  <a:extLst>
                    <a:ext uri="{9D8B030D-6E8A-4147-A177-3AD203B41FA5}">
                      <a16:colId xmlns:a16="http://schemas.microsoft.com/office/drawing/2014/main" val="1927704474"/>
                    </a:ext>
                  </a:extLst>
                </a:gridCol>
                <a:gridCol w="6537156">
                  <a:extLst>
                    <a:ext uri="{9D8B030D-6E8A-4147-A177-3AD203B41FA5}">
                      <a16:colId xmlns:a16="http://schemas.microsoft.com/office/drawing/2014/main" val="2977260472"/>
                    </a:ext>
                  </a:extLst>
                </a:gridCol>
              </a:tblGrid>
              <a:tr h="380752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reward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615031"/>
                  </a:ext>
                </a:extLst>
              </a:tr>
              <a:tr h="380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state, state_, action, scene_info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4579332"/>
                  </a:ext>
                </a:extLst>
              </a:tr>
              <a:tr h="380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輸出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加分、減分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7756611"/>
                  </a:ext>
                </a:extLst>
              </a:tr>
              <a:tr h="380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參數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scene_info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的遊戲參數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8600422"/>
                  </a:ext>
                </a:extLst>
              </a:tr>
              <a:tr h="380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方法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if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判斷式根據條件決定加分或扣分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6310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690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7DEAC05-E87F-4628-B123-D8246208F635}"/>
              </a:ext>
            </a:extLst>
          </p:cNvPr>
          <p:cNvSpPr/>
          <p:nvPr/>
        </p:nvSpPr>
        <p:spPr>
          <a:xfrm>
            <a:off x="1" y="0"/>
            <a:ext cx="12192000" cy="72441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3573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77DBC1C-28BF-332B-6A91-D27BC124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F6A3637-E7E7-43CB-DED2-719E5D0B6DD3}"/>
              </a:ext>
            </a:extLst>
          </p:cNvPr>
          <p:cNvSpPr txBox="1"/>
          <p:nvPr/>
        </p:nvSpPr>
        <p:spPr>
          <a:xfrm>
            <a:off x="1766468" y="666461"/>
            <a:ext cx="60944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網路架構</a:t>
            </a:r>
            <a:r>
              <a:rPr lang="en-US" altLang="zh-TW" sz="1800" b="1" dirty="0"/>
              <a:t>Deep Q-Network (DQN)</a:t>
            </a:r>
            <a:r>
              <a:rPr lang="en-US" altLang="zh-TW" sz="1800" dirty="0"/>
              <a:t> </a:t>
            </a:r>
            <a:endParaRPr lang="zh-TW" altLang="en-US" sz="1800" dirty="0">
              <a:latin typeface="Times New Roman" panose="02020603050405020304" pitchFamily="18" charset="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800" b="1" dirty="0"/>
              <a:t>Deep Q-Network (DQN)</a:t>
            </a:r>
            <a:r>
              <a:rPr lang="en-US" altLang="zh-TW" sz="1800" dirty="0"/>
              <a:t> </a:t>
            </a:r>
            <a:r>
              <a:rPr lang="zh-TW" altLang="en-US" sz="1800" dirty="0"/>
              <a:t>的輸出輸入是什麼</a:t>
            </a:r>
            <a:endParaRPr lang="en-US" altLang="zh-TW" sz="1800" dirty="0"/>
          </a:p>
          <a:p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</a:rPr>
              <a:t>解釋</a:t>
            </a:r>
            <a:r>
              <a:rPr lang="en-US" altLang="zh-TW" sz="1800" b="1" dirty="0"/>
              <a:t>Deep Q-Network (DQN)</a:t>
            </a:r>
            <a:r>
              <a:rPr lang="en-US" altLang="zh-TW" sz="1800" dirty="0"/>
              <a:t> </a:t>
            </a:r>
          </a:p>
          <a:p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</a:rPr>
              <a:t>公式的損失函數範圍</a:t>
            </a:r>
            <a:endParaRPr lang="en-US" altLang="zh-TW" sz="1800" dirty="0">
              <a:latin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</a:rPr>
              <a:t>E</a:t>
            </a:r>
            <a:r>
              <a:rPr lang="zh-TW" altLang="en-US" sz="1800" dirty="0">
                <a:latin typeface="Times New Roman" panose="02020603050405020304" pitchFamily="18" charset="0"/>
              </a:rPr>
              <a:t>的範圍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7202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F235EB7-AB6D-DEF5-0C76-348F0E6AA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D82BB2B-2C54-469B-9CD7-A8C700C0F898}"/>
              </a:ext>
            </a:extLst>
          </p:cNvPr>
          <p:cNvSpPr txBox="1"/>
          <p:nvPr/>
        </p:nvSpPr>
        <p:spPr>
          <a:xfrm>
            <a:off x="595884" y="2409319"/>
            <a:ext cx="110002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</a:rPr>
              <a:t>需求</a:t>
            </a:r>
            <a:br>
              <a:rPr lang="en-US" altLang="zh-TW" dirty="0">
                <a:latin typeface="Times New Roman" panose="02020603050405020304" pitchFamily="18" charset="0"/>
              </a:rPr>
            </a:br>
            <a:r>
              <a:rPr lang="zh-TW" altLang="en-US" dirty="0">
                <a:latin typeface="Times New Roman" panose="02020603050405020304" pitchFamily="18" charset="0"/>
              </a:rPr>
              <a:t> 功能</a:t>
            </a:r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</a:rPr>
              <a:t> 效能</a:t>
            </a:r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</a:rPr>
              <a:t> 介面 內部 外部</a:t>
            </a:r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</a:rPr>
              <a:t> 限制</a:t>
            </a:r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</a:rPr>
              <a:t> 驗收</a:t>
            </a:r>
          </a:p>
        </p:txBody>
      </p:sp>
    </p:spTree>
    <p:extLst>
      <p:ext uri="{BB962C8B-B14F-4D97-AF65-F5344CB8AC3E}">
        <p14:creationId xmlns:p14="http://schemas.microsoft.com/office/powerpoint/2010/main" val="1351318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B23C80-B505-6766-0521-831471A1A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8909614-A3D7-BEB7-C00D-CE1732023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273" y="1315992"/>
            <a:ext cx="7595453" cy="480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9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4FC73B-102C-4FA4-9174-F88F234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5B4D81C-15C2-46F0-8140-D577F9ACB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驗收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6307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4FC73B-102C-4FA4-9174-F88F234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5B4D81C-15C2-46F0-8140-D577F9ACB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驗收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</p:spTree>
    <p:extLst>
      <p:ext uri="{BB962C8B-B14F-4D97-AF65-F5344CB8AC3E}">
        <p14:creationId xmlns:p14="http://schemas.microsoft.com/office/powerpoint/2010/main" val="2517806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BE50C09-4A98-48B0-8B18-AFB0A0D1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C9729E43-77A5-443F-8BC7-96E330C3867D}"/>
              </a:ext>
            </a:extLst>
          </p:cNvPr>
          <p:cNvSpPr txBox="1">
            <a:spLocks/>
          </p:cNvSpPr>
          <p:nvPr/>
        </p:nvSpPr>
        <p:spPr>
          <a:xfrm>
            <a:off x="1143001" y="78191"/>
            <a:ext cx="9905998" cy="8112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介面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6BF4BA0B-7B31-4E3D-AA6E-DAC853024FCE}"/>
              </a:ext>
            </a:extLst>
          </p:cNvPr>
          <p:cNvGrpSpPr/>
          <p:nvPr/>
        </p:nvGrpSpPr>
        <p:grpSpPr>
          <a:xfrm>
            <a:off x="873845" y="1952625"/>
            <a:ext cx="5812706" cy="4102479"/>
            <a:chOff x="873845" y="1952625"/>
            <a:chExt cx="5812706" cy="4102479"/>
          </a:xfrm>
        </p:grpSpPr>
        <p:pic>
          <p:nvPicPr>
            <p:cNvPr id="5" name="Picture 2" descr="File:Python.svg - 維基百科，自由的百科全書">
              <a:extLst>
                <a:ext uri="{FF2B5EF4-FFF2-40B4-BE49-F238E27FC236}">
                  <a16:creationId xmlns:a16="http://schemas.microsoft.com/office/drawing/2014/main" id="{89AA91FF-8B8B-406E-94DD-B6E659974F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9409" y="2898125"/>
              <a:ext cx="1448185" cy="144482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  <p:sp>
          <p:nvSpPr>
            <p:cNvPr id="6" name="箭號: 向下 5">
              <a:extLst>
                <a:ext uri="{FF2B5EF4-FFF2-40B4-BE49-F238E27FC236}">
                  <a16:creationId xmlns:a16="http://schemas.microsoft.com/office/drawing/2014/main" id="{2618E9E3-3D07-40EC-AA72-D6AD84CD46C7}"/>
                </a:ext>
              </a:extLst>
            </p:cNvPr>
            <p:cNvSpPr/>
            <p:nvPr/>
          </p:nvSpPr>
          <p:spPr>
            <a:xfrm>
              <a:off x="2344983" y="4720806"/>
              <a:ext cx="304910" cy="819011"/>
            </a:xfrm>
            <a:prstGeom prst="down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7A19D86-40C0-4049-9C8E-6C2C93CCF736}"/>
                </a:ext>
              </a:extLst>
            </p:cNvPr>
            <p:cNvSpPr/>
            <p:nvPr/>
          </p:nvSpPr>
          <p:spPr>
            <a:xfrm>
              <a:off x="1787283" y="5602697"/>
              <a:ext cx="1420311" cy="452407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匯出模型檔</a:t>
              </a:r>
            </a:p>
          </p:txBody>
        </p:sp>
        <p:cxnSp>
          <p:nvCxnSpPr>
            <p:cNvPr id="8" name="接點: 肘形 7">
              <a:extLst>
                <a:ext uri="{FF2B5EF4-FFF2-40B4-BE49-F238E27FC236}">
                  <a16:creationId xmlns:a16="http://schemas.microsoft.com/office/drawing/2014/main" id="{2DEB1C25-E69D-401B-824D-6823F15F920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98147" y="4447566"/>
              <a:ext cx="2091571" cy="686701"/>
            </a:xfrm>
            <a:prstGeom prst="bentConnector2">
              <a:avLst/>
            </a:prstGeom>
            <a:ln w="762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350F949F-3316-43B4-BE80-DA5FE4799F4D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 flipV="1">
              <a:off x="1065509" y="5828901"/>
              <a:ext cx="721774" cy="7801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7B135F8-26D8-4868-B361-C33DEB015708}"/>
                </a:ext>
              </a:extLst>
            </p:cNvPr>
            <p:cNvSpPr txBox="1"/>
            <p:nvPr/>
          </p:nvSpPr>
          <p:spPr>
            <a:xfrm>
              <a:off x="2112599" y="4353783"/>
              <a:ext cx="769677" cy="343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python</a:t>
              </a:r>
              <a:endParaRPr lang="zh-TW" altLang="en-US" dirty="0"/>
            </a:p>
          </p:txBody>
        </p:sp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D10976E-0D4D-4A1D-8F2C-68BF39509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8581" y="1952625"/>
              <a:ext cx="2367970" cy="1015214"/>
            </a:xfrm>
            <a:prstGeom prst="rect">
              <a:avLst/>
            </a:prstGeom>
          </p:spPr>
        </p:pic>
        <p:sp>
          <p:nvSpPr>
            <p:cNvPr id="12" name="箭號: 向下 11">
              <a:extLst>
                <a:ext uri="{FF2B5EF4-FFF2-40B4-BE49-F238E27FC236}">
                  <a16:creationId xmlns:a16="http://schemas.microsoft.com/office/drawing/2014/main" id="{4D62AADB-FE85-40BB-9330-BD3D24E8BE1A}"/>
                </a:ext>
              </a:extLst>
            </p:cNvPr>
            <p:cNvSpPr/>
            <p:nvPr/>
          </p:nvSpPr>
          <p:spPr>
            <a:xfrm>
              <a:off x="5338059" y="3095452"/>
              <a:ext cx="304910" cy="819011"/>
            </a:xfrm>
            <a:prstGeom prst="down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FFFFC8D7-9FB4-4557-8654-66593F28F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7814" y="3898230"/>
              <a:ext cx="1645400" cy="1641587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3950D909-4A11-4E93-BF48-88B16AF3117B}"/>
                </a:ext>
              </a:extLst>
            </p:cNvPr>
            <p:cNvSpPr txBox="1"/>
            <p:nvPr/>
          </p:nvSpPr>
          <p:spPr>
            <a:xfrm>
              <a:off x="4833880" y="5444604"/>
              <a:ext cx="1337373" cy="343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Arkanoid.exe</a:t>
              </a:r>
              <a:endParaRPr lang="zh-TW" altLang="en-US" dirty="0"/>
            </a:p>
          </p:txBody>
        </p:sp>
        <p:sp>
          <p:nvSpPr>
            <p:cNvPr id="15" name="箭號: 左-右雙向 14">
              <a:extLst>
                <a:ext uri="{FF2B5EF4-FFF2-40B4-BE49-F238E27FC236}">
                  <a16:creationId xmlns:a16="http://schemas.microsoft.com/office/drawing/2014/main" id="{2561C4CC-8AAA-4082-8818-DD3BFB1B7D0A}"/>
                </a:ext>
              </a:extLst>
            </p:cNvPr>
            <p:cNvSpPr/>
            <p:nvPr/>
          </p:nvSpPr>
          <p:spPr>
            <a:xfrm>
              <a:off x="3453918" y="4280402"/>
              <a:ext cx="1526233" cy="301117"/>
            </a:xfrm>
            <a:prstGeom prst="leftRightArrow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D47A9DBE-4DBA-4F12-9419-F3C72EF0C3AF}"/>
                </a:ext>
              </a:extLst>
            </p:cNvPr>
            <p:cNvSpPr txBox="1"/>
            <p:nvPr/>
          </p:nvSpPr>
          <p:spPr>
            <a:xfrm>
              <a:off x="3542258" y="3925412"/>
              <a:ext cx="1247737" cy="343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控制與讀取</a:t>
              </a: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428C43F-C559-438F-9D8A-AC130C42D9BF}"/>
                </a:ext>
              </a:extLst>
            </p:cNvPr>
            <p:cNvSpPr txBox="1"/>
            <p:nvPr/>
          </p:nvSpPr>
          <p:spPr>
            <a:xfrm>
              <a:off x="6471599" y="3914463"/>
              <a:ext cx="172162" cy="343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TW" altLang="en-US" dirty="0"/>
            </a:p>
          </p:txBody>
        </p: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F4F764C0-9F20-4848-9B2A-7ED4C123E7F7}"/>
                </a:ext>
              </a:extLst>
            </p:cNvPr>
            <p:cNvGrpSpPr/>
            <p:nvPr/>
          </p:nvGrpSpPr>
          <p:grpSpPr>
            <a:xfrm>
              <a:off x="3542258" y="4734498"/>
              <a:ext cx="1450063" cy="479748"/>
              <a:chOff x="3409264" y="4629214"/>
              <a:chExt cx="1555924" cy="515968"/>
            </a:xfrm>
          </p:grpSpPr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25C3F783-D042-4BC2-902F-63D6E2DDC7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09264" y="4629214"/>
                <a:ext cx="600309" cy="515968"/>
              </a:xfrm>
              <a:prstGeom prst="rect">
                <a:avLst/>
              </a:prstGeom>
            </p:spPr>
          </p:pic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E7227158-8E10-47AA-A42C-7B688E43BCDC}"/>
                  </a:ext>
                </a:extLst>
              </p:cNvPr>
              <p:cNvSpPr txBox="1"/>
              <p:nvPr/>
            </p:nvSpPr>
            <p:spPr>
              <a:xfrm>
                <a:off x="3638918" y="4674132"/>
                <a:ext cx="1326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Gym</a:t>
                </a:r>
                <a:endParaRPr lang="zh-TW" altLang="en-US" dirty="0"/>
              </a:p>
            </p:txBody>
          </p:sp>
        </p:grp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B8832774-5DC2-4721-8A2B-71AD83DDED90}"/>
                </a:ext>
              </a:extLst>
            </p:cNvPr>
            <p:cNvSpPr txBox="1"/>
            <p:nvPr/>
          </p:nvSpPr>
          <p:spPr>
            <a:xfrm>
              <a:off x="873845" y="2329336"/>
              <a:ext cx="684803" cy="369332"/>
            </a:xfrm>
            <a:prstGeom prst="rect">
              <a:avLst/>
            </a:prstGeom>
            <a:solidFill>
              <a:srgbClr val="00B0F0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KNN</a:t>
              </a:r>
              <a:endParaRPr lang="zh-TW" altLang="en-US" dirty="0"/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8CCD7946-381E-4C44-9543-F51CB7DD6252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991535" y="2672742"/>
              <a:ext cx="767874" cy="94779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BABFF270-1131-4CA7-84AD-6A7D87BBE515}"/>
                </a:ext>
              </a:extLst>
            </p:cNvPr>
            <p:cNvCxnSpPr>
              <a:cxnSpLocks/>
              <a:stCxn id="19" idx="2"/>
              <a:endCxn id="5" idx="1"/>
            </p:cNvCxnSpPr>
            <p:nvPr/>
          </p:nvCxnSpPr>
          <p:spPr>
            <a:xfrm>
              <a:off x="1216247" y="2698668"/>
              <a:ext cx="543162" cy="92187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CDAFF83-0231-4F25-BB94-5715979CE01D}"/>
              </a:ext>
            </a:extLst>
          </p:cNvPr>
          <p:cNvSpPr txBox="1"/>
          <p:nvPr/>
        </p:nvSpPr>
        <p:spPr>
          <a:xfrm>
            <a:off x="1164651" y="1120903"/>
            <a:ext cx="6498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外部介面</a:t>
            </a:r>
            <a:r>
              <a:rPr lang="en-US" altLang="zh-TW" dirty="0"/>
              <a:t>:</a:t>
            </a:r>
            <a:r>
              <a:rPr lang="zh-TW" altLang="en-US" dirty="0"/>
              <a:t>板子嘗試接反彈回來的球，試圖打掉所有磚塊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內部介面</a:t>
            </a:r>
            <a:r>
              <a:rPr lang="en-US" altLang="zh-TW" dirty="0"/>
              <a:t>:</a:t>
            </a:r>
            <a:r>
              <a:rPr lang="zh-TW" altLang="en-US" dirty="0"/>
              <a:t>使用</a:t>
            </a:r>
            <a:r>
              <a:rPr lang="en-US" altLang="zh-TW" dirty="0"/>
              <a:t>PAIA</a:t>
            </a:r>
            <a:r>
              <a:rPr lang="zh-TW" altLang="en-US" dirty="0"/>
              <a:t>產生</a:t>
            </a:r>
            <a:r>
              <a:rPr lang="en-US" altLang="zh-TW" dirty="0"/>
              <a:t>exe</a:t>
            </a:r>
            <a:r>
              <a:rPr lang="zh-TW" altLang="en-US" dirty="0"/>
              <a:t>檔，</a:t>
            </a:r>
            <a:r>
              <a:rPr lang="en-US" altLang="zh-TW" dirty="0"/>
              <a:t>python</a:t>
            </a:r>
            <a:r>
              <a:rPr lang="zh-TW" altLang="en-US" dirty="0"/>
              <a:t>透過</a:t>
            </a:r>
            <a:r>
              <a:rPr lang="en-US" altLang="zh-TW" dirty="0"/>
              <a:t>gym</a:t>
            </a:r>
            <a:r>
              <a:rPr lang="zh-TW" altLang="en-US" dirty="0"/>
              <a:t>與</a:t>
            </a:r>
            <a:r>
              <a:rPr lang="en-US" altLang="zh-TW" dirty="0"/>
              <a:t>exe</a:t>
            </a:r>
            <a:r>
              <a:rPr lang="zh-TW" altLang="en-US" dirty="0"/>
              <a:t>檔溝通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B8343726-9740-4BBD-AD2C-5F60C1E50B1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2289" t="1140" r="1310" b="11706"/>
          <a:stretch/>
        </p:blipFill>
        <p:spPr>
          <a:xfrm>
            <a:off x="8017100" y="440543"/>
            <a:ext cx="2758924" cy="597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39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4FC73B-102C-4FA4-9174-F88F234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5B4D81C-15C2-46F0-8140-D577F9ACB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D4E93A-13BF-4226-8C96-B6C2DF32C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94" y="1088290"/>
            <a:ext cx="3953427" cy="5268060"/>
          </a:xfrm>
          <a:prstGeom prst="rect">
            <a:avLst/>
          </a:prstGeom>
        </p:spPr>
      </p:pic>
      <p:graphicFrame>
        <p:nvGraphicFramePr>
          <p:cNvPr id="9" name="內容版面配置區 3">
            <a:extLst>
              <a:ext uri="{FF2B5EF4-FFF2-40B4-BE49-F238E27FC236}">
                <a16:creationId xmlns:a16="http://schemas.microsoft.com/office/drawing/2014/main" id="{AE771762-DBAD-4125-8A76-B61C37BF9FD2}"/>
              </a:ext>
            </a:extLst>
          </p:cNvPr>
          <p:cNvGraphicFramePr>
            <a:graphicFrameLocks/>
          </p:cNvGraphicFramePr>
          <p:nvPr/>
        </p:nvGraphicFramePr>
        <p:xfrm>
          <a:off x="4963869" y="1223033"/>
          <a:ext cx="3512673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46917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1965756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大小</a:t>
                      </a:r>
                      <a:r>
                        <a:rPr lang="en-US" altLang="zh-TW" dirty="0"/>
                        <a:t>[</a:t>
                      </a:r>
                      <a:r>
                        <a:rPr lang="zh-TW" altLang="en-US" dirty="0"/>
                        <a:t>寬*高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像素</a:t>
                      </a:r>
                      <a:r>
                        <a:rPr lang="en-US" altLang="zh-TW" dirty="0"/>
                        <a:t>)]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遊戲視窗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500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429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磚塊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1348138"/>
                  </a:ext>
                </a:extLst>
              </a:tr>
            </a:tbl>
          </a:graphicData>
        </a:graphic>
      </p:graphicFrame>
      <p:graphicFrame>
        <p:nvGraphicFramePr>
          <p:cNvPr id="11" name="內容版面配置區 3">
            <a:extLst>
              <a:ext uri="{FF2B5EF4-FFF2-40B4-BE49-F238E27FC236}">
                <a16:creationId xmlns:a16="http://schemas.microsoft.com/office/drawing/2014/main" id="{8AB7944F-0AEF-4CE2-B9D0-2F139F67383A}"/>
              </a:ext>
            </a:extLst>
          </p:cNvPr>
          <p:cNvGraphicFramePr>
            <a:graphicFrameLocks/>
          </p:cNvGraphicFramePr>
          <p:nvPr/>
        </p:nvGraphicFramePr>
        <p:xfrm>
          <a:off x="4963869" y="3377918"/>
          <a:ext cx="3512673" cy="17424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70310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1004066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  <a:gridCol w="1038297">
                  <a:extLst>
                    <a:ext uri="{9D8B030D-6E8A-4147-A177-3AD203B41FA5}">
                      <a16:colId xmlns:a16="http://schemas.microsoft.com/office/drawing/2014/main" val="3584343060"/>
                    </a:ext>
                  </a:extLst>
                </a:gridCol>
              </a:tblGrid>
              <a:tr h="321919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移動速度</a:t>
                      </a:r>
                      <a:endParaRPr lang="en-US" altLang="zh-TW" dirty="0"/>
                    </a:p>
                    <a:p>
                      <a:pPr algn="ctr"/>
                      <a:r>
                        <a:rPr lang="en-US" altLang="zh-TW" dirty="0"/>
                        <a:t>[</a:t>
                      </a:r>
                      <a:r>
                        <a:rPr lang="zh-TW" altLang="en-US" dirty="0"/>
                        <a:t>每秒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像素</a:t>
                      </a:r>
                      <a:r>
                        <a:rPr lang="en-US" altLang="zh-TW" dirty="0"/>
                        <a:t>)]</a:t>
                      </a: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切球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未切球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064924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>
            <a:extLst>
              <a:ext uri="{FF2B5EF4-FFF2-40B4-BE49-F238E27FC236}">
                <a16:creationId xmlns:a16="http://schemas.microsoft.com/office/drawing/2014/main" id="{31CA0F27-E6BD-43C1-BFB3-672520D9D5C7}"/>
              </a:ext>
            </a:extLst>
          </p:cNvPr>
          <p:cNvGraphicFramePr>
            <a:graphicFrameLocks/>
          </p:cNvGraphicFramePr>
          <p:nvPr/>
        </p:nvGraphicFramePr>
        <p:xfrm>
          <a:off x="8574229" y="1227411"/>
          <a:ext cx="3512673" cy="1752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初始位置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[75,400]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[93, 395]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磚塊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[25,25]~[25,65]</a:t>
                      </a:r>
                    </a:p>
                    <a:p>
                      <a:pPr algn="ctr"/>
                      <a:r>
                        <a:rPr lang="en-US" altLang="zh-TW" dirty="0"/>
                        <a:t>[125,25]~[125,65]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1348138"/>
                  </a:ext>
                </a:extLst>
              </a:tr>
            </a:tbl>
          </a:graphicData>
        </a:graphic>
      </p:graphicFrame>
      <p:graphicFrame>
        <p:nvGraphicFramePr>
          <p:cNvPr id="13" name="內容版面配置區 3">
            <a:extLst>
              <a:ext uri="{FF2B5EF4-FFF2-40B4-BE49-F238E27FC236}">
                <a16:creationId xmlns:a16="http://schemas.microsoft.com/office/drawing/2014/main" id="{CEE0F098-2D94-45D1-AE30-A2A2957BEA72}"/>
              </a:ext>
            </a:extLst>
          </p:cNvPr>
          <p:cNvGraphicFramePr>
            <a:graphicFrameLocks/>
          </p:cNvGraphicFramePr>
          <p:nvPr/>
        </p:nvGraphicFramePr>
        <p:xfrm>
          <a:off x="8574229" y="3383462"/>
          <a:ext cx="3512673" cy="13817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移動範圍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[0,400]~[195,400]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[0, 0]~[0,403]</a:t>
                      </a:r>
                    </a:p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[195,0]~[195,403]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512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825B34F-B902-F87A-872D-42EEEE8BCABB}"/>
              </a:ext>
            </a:extLst>
          </p:cNvPr>
          <p:cNvSpPr/>
          <p:nvPr/>
        </p:nvSpPr>
        <p:spPr>
          <a:xfrm>
            <a:off x="6598399" y="558429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打磚塊外掛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BCFFB5-3053-46C0-E141-51C8B21E085F}"/>
              </a:ext>
            </a:extLst>
          </p:cNvPr>
          <p:cNvSpPr/>
          <p:nvPr/>
        </p:nvSpPr>
        <p:spPr>
          <a:xfrm>
            <a:off x="5560188" y="1785246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1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Q_learning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BB139-0371-1C35-2851-8FE2DDEFEF51}"/>
              </a:ext>
            </a:extLst>
          </p:cNvPr>
          <p:cNvSpPr/>
          <p:nvPr/>
        </p:nvSpPr>
        <p:spPr>
          <a:xfrm>
            <a:off x="8054340" y="1785246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PAIA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1ED10E-1713-D1C7-3C2E-7F8E98354BC9}"/>
              </a:ext>
            </a:extLst>
          </p:cNvPr>
          <p:cNvSpPr/>
          <p:nvPr/>
        </p:nvSpPr>
        <p:spPr>
          <a:xfrm>
            <a:off x="3838068" y="2752986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訓練模型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436D11-ACA1-0282-CE26-075E4C0E7F48}"/>
              </a:ext>
            </a:extLst>
          </p:cNvPr>
          <p:cNvSpPr/>
          <p:nvPr/>
        </p:nvSpPr>
        <p:spPr>
          <a:xfrm>
            <a:off x="7282308" y="2752986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AED28761-367C-B6E4-3730-DB3C5139D504}"/>
              </a:ext>
            </a:extLst>
          </p:cNvPr>
          <p:cNvCxnSpPr>
            <a:cxnSpLocks/>
            <a:stCxn id="9" idx="1"/>
            <a:endCxn id="10" idx="0"/>
          </p:cNvCxnSpPr>
          <p:nvPr/>
        </p:nvCxnSpPr>
        <p:spPr>
          <a:xfrm rot="10800000" flipV="1">
            <a:off x="6116449" y="817508"/>
            <a:ext cx="481951" cy="967737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E8970680-27F5-4B82-5C48-19FFBFC4F287}"/>
              </a:ext>
            </a:extLst>
          </p:cNvPr>
          <p:cNvCxnSpPr>
            <a:cxnSpLocks/>
            <a:stCxn id="14" idx="0"/>
            <a:endCxn id="10" idx="3"/>
          </p:cNvCxnSpPr>
          <p:nvPr/>
        </p:nvCxnSpPr>
        <p:spPr>
          <a:xfrm rot="16200000" flipV="1">
            <a:off x="6901308" y="1815726"/>
            <a:ext cx="708660" cy="11658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AB645B8F-5A31-E7FD-75F5-3115C28E11AA}"/>
              </a:ext>
            </a:extLst>
          </p:cNvPr>
          <p:cNvCxnSpPr>
            <a:cxnSpLocks/>
            <a:stCxn id="10" idx="1"/>
            <a:endCxn id="13" idx="0"/>
          </p:cNvCxnSpPr>
          <p:nvPr/>
        </p:nvCxnSpPr>
        <p:spPr>
          <a:xfrm rot="10800000" flipV="1">
            <a:off x="4394328" y="2044326"/>
            <a:ext cx="1165860" cy="7086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D1DED953-3ADF-B753-0D57-0807657B8F9D}"/>
              </a:ext>
            </a:extLst>
          </p:cNvPr>
          <p:cNvSpPr/>
          <p:nvPr/>
        </p:nvSpPr>
        <p:spPr>
          <a:xfrm>
            <a:off x="2665904" y="397064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EC882D-1F14-9CCD-A7BB-73A095145757}"/>
              </a:ext>
            </a:extLst>
          </p:cNvPr>
          <p:cNvSpPr/>
          <p:nvPr/>
        </p:nvSpPr>
        <p:spPr>
          <a:xfrm>
            <a:off x="3577367" y="3970640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action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1EB6134-A760-9619-DC9D-BF4529F96A8F}"/>
              </a:ext>
            </a:extLst>
          </p:cNvPr>
          <p:cNvSpPr/>
          <p:nvPr/>
        </p:nvSpPr>
        <p:spPr>
          <a:xfrm>
            <a:off x="5400292" y="397064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reward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88C514-8880-342C-016F-6C3EA743D47B}"/>
              </a:ext>
            </a:extLst>
          </p:cNvPr>
          <p:cNvSpPr/>
          <p:nvPr/>
        </p:nvSpPr>
        <p:spPr>
          <a:xfrm>
            <a:off x="4488830" y="397064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State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1975B5-AC0C-F15B-5611-75520B32B860}"/>
              </a:ext>
            </a:extLst>
          </p:cNvPr>
          <p:cNvSpPr/>
          <p:nvPr/>
        </p:nvSpPr>
        <p:spPr>
          <a:xfrm>
            <a:off x="2203768" y="4933994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讀取模型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8973F96-4724-EDD4-8867-384F6B667A4B}"/>
              </a:ext>
            </a:extLst>
          </p:cNvPr>
          <p:cNvSpPr/>
          <p:nvPr/>
        </p:nvSpPr>
        <p:spPr>
          <a:xfrm>
            <a:off x="3023030" y="492921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儲存模型</a:t>
            </a:r>
          </a:p>
        </p:txBody>
      </p:sp>
      <p:cxnSp>
        <p:nvCxnSpPr>
          <p:cNvPr id="26" name="接點: 肘形 25">
            <a:extLst>
              <a:ext uri="{FF2B5EF4-FFF2-40B4-BE49-F238E27FC236}">
                <a16:creationId xmlns:a16="http://schemas.microsoft.com/office/drawing/2014/main" id="{38F04E77-516B-3B18-B88F-8C50904AA2A3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2611002" y="4517188"/>
            <a:ext cx="440416" cy="383641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接點: 肘形 26">
            <a:extLst>
              <a:ext uri="{FF2B5EF4-FFF2-40B4-BE49-F238E27FC236}">
                <a16:creationId xmlns:a16="http://schemas.microsoft.com/office/drawing/2014/main" id="{587E4373-7A61-9664-15C8-80CF359C9575}"/>
              </a:ext>
            </a:extLst>
          </p:cNvPr>
          <p:cNvCxnSpPr>
            <a:stCxn id="20" idx="2"/>
            <a:endCxn id="25" idx="0"/>
          </p:cNvCxnSpPr>
          <p:nvPr/>
        </p:nvCxnSpPr>
        <p:spPr>
          <a:xfrm rot="16200000" flipH="1">
            <a:off x="2981385" y="4530445"/>
            <a:ext cx="440416" cy="357126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9DB8847E-3A77-D87C-A889-922D0F9964E2}"/>
              </a:ext>
            </a:extLst>
          </p:cNvPr>
          <p:cNvCxnSpPr>
            <a:cxnSpLocks/>
            <a:endCxn id="22" idx="0"/>
          </p:cNvCxnSpPr>
          <p:nvPr/>
        </p:nvCxnSpPr>
        <p:spPr>
          <a:xfrm rot="16200000" flipH="1">
            <a:off x="4725172" y="2938394"/>
            <a:ext cx="699496" cy="1364995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CB00A93E-7227-F486-63DF-6600F576017B}"/>
              </a:ext>
            </a:extLst>
          </p:cNvPr>
          <p:cNvCxnSpPr>
            <a:cxnSpLocks/>
            <a:endCxn id="23" idx="0"/>
          </p:cNvCxnSpPr>
          <p:nvPr/>
        </p:nvCxnSpPr>
        <p:spPr>
          <a:xfrm rot="16200000" flipH="1">
            <a:off x="4269440" y="3394124"/>
            <a:ext cx="699498" cy="45353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D7FE9E59-B91B-67A7-87E4-94DE82525DA4}"/>
              </a:ext>
            </a:extLst>
          </p:cNvPr>
          <p:cNvCxnSpPr>
            <a:cxnSpLocks/>
            <a:endCxn id="21" idx="0"/>
          </p:cNvCxnSpPr>
          <p:nvPr/>
        </p:nvCxnSpPr>
        <p:spPr>
          <a:xfrm rot="5400000">
            <a:off x="3833700" y="3411915"/>
            <a:ext cx="699495" cy="417954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DCFC94AA-6C06-C0D5-EA3D-D0192CC89155}"/>
              </a:ext>
            </a:extLst>
          </p:cNvPr>
          <p:cNvCxnSpPr>
            <a:cxnSpLocks/>
            <a:endCxn id="20" idx="0"/>
          </p:cNvCxnSpPr>
          <p:nvPr/>
        </p:nvCxnSpPr>
        <p:spPr>
          <a:xfrm rot="5400000">
            <a:off x="3357979" y="2936196"/>
            <a:ext cx="699496" cy="136939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AA056887-E502-76BA-C256-1BF3CF466A2C}"/>
              </a:ext>
            </a:extLst>
          </p:cNvPr>
          <p:cNvSpPr/>
          <p:nvPr/>
        </p:nvSpPr>
        <p:spPr>
          <a:xfrm>
            <a:off x="5385999" y="5770464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state_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C6006BA-DCCA-31DB-254D-7AC01DC0AC0F}"/>
              </a:ext>
            </a:extLst>
          </p:cNvPr>
          <p:cNvCxnSpPr>
            <a:stCxn id="22" idx="2"/>
            <a:endCxn id="35" idx="0"/>
          </p:cNvCxnSpPr>
          <p:nvPr/>
        </p:nvCxnSpPr>
        <p:spPr>
          <a:xfrm flipH="1">
            <a:off x="5743125" y="4488800"/>
            <a:ext cx="14293" cy="1281664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接點: 肘形 48">
            <a:extLst>
              <a:ext uri="{FF2B5EF4-FFF2-40B4-BE49-F238E27FC236}">
                <a16:creationId xmlns:a16="http://schemas.microsoft.com/office/drawing/2014/main" id="{0692125B-1C73-52A7-C4C3-E149E157C5F9}"/>
              </a:ext>
            </a:extLst>
          </p:cNvPr>
          <p:cNvCxnSpPr>
            <a:cxnSpLocks/>
            <a:stCxn id="11" idx="0"/>
            <a:endCxn id="9" idx="3"/>
          </p:cNvCxnSpPr>
          <p:nvPr/>
        </p:nvCxnSpPr>
        <p:spPr>
          <a:xfrm rot="16200000" flipV="1">
            <a:off x="7848602" y="1023248"/>
            <a:ext cx="967737" cy="5562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接點: 肘形 91">
            <a:extLst>
              <a:ext uri="{FF2B5EF4-FFF2-40B4-BE49-F238E27FC236}">
                <a16:creationId xmlns:a16="http://schemas.microsoft.com/office/drawing/2014/main" id="{AD1F8EC3-07D6-EBE6-8F2F-30FCBF32B6EA}"/>
              </a:ext>
            </a:extLst>
          </p:cNvPr>
          <p:cNvCxnSpPr>
            <a:cxnSpLocks/>
          </p:cNvCxnSpPr>
          <p:nvPr/>
        </p:nvCxnSpPr>
        <p:spPr>
          <a:xfrm rot="10800000">
            <a:off x="3364599" y="4709015"/>
            <a:ext cx="818848" cy="220200"/>
          </a:xfrm>
          <a:prstGeom prst="bentConnector3">
            <a:avLst>
              <a:gd name="adj1" fmla="val -251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FD90ACFF-AD99-8A08-D326-C2540BEE2343}"/>
              </a:ext>
            </a:extLst>
          </p:cNvPr>
          <p:cNvSpPr/>
          <p:nvPr/>
        </p:nvSpPr>
        <p:spPr>
          <a:xfrm>
            <a:off x="3880853" y="4929214"/>
            <a:ext cx="634825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更新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cxnSp>
        <p:nvCxnSpPr>
          <p:cNvPr id="111" name="接點: 肘形 110">
            <a:extLst>
              <a:ext uri="{FF2B5EF4-FFF2-40B4-BE49-F238E27FC236}">
                <a16:creationId xmlns:a16="http://schemas.microsoft.com/office/drawing/2014/main" id="{724A9FE9-948B-895E-8A23-F72278959E36}"/>
              </a:ext>
            </a:extLst>
          </p:cNvPr>
          <p:cNvCxnSpPr>
            <a:cxnSpLocks/>
          </p:cNvCxnSpPr>
          <p:nvPr/>
        </p:nvCxnSpPr>
        <p:spPr>
          <a:xfrm rot="10800000">
            <a:off x="4149295" y="4716848"/>
            <a:ext cx="818848" cy="220200"/>
          </a:xfrm>
          <a:prstGeom prst="bentConnector3">
            <a:avLst>
              <a:gd name="adj1" fmla="val -251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7128FC7F-023A-33AC-FF5F-39D4051B8B7F}"/>
              </a:ext>
            </a:extLst>
          </p:cNvPr>
          <p:cNvSpPr/>
          <p:nvPr/>
        </p:nvSpPr>
        <p:spPr>
          <a:xfrm>
            <a:off x="4672890" y="4933994"/>
            <a:ext cx="66276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查詢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cxnSp>
        <p:nvCxnSpPr>
          <p:cNvPr id="114" name="接點: 肘形 113">
            <a:extLst>
              <a:ext uri="{FF2B5EF4-FFF2-40B4-BE49-F238E27FC236}">
                <a16:creationId xmlns:a16="http://schemas.microsoft.com/office/drawing/2014/main" id="{2906D66C-4B28-D838-662F-7CFF0395C42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944865" y="5584850"/>
            <a:ext cx="805107" cy="222208"/>
          </a:xfrm>
          <a:prstGeom prst="bentConnector3">
            <a:avLst>
              <a:gd name="adj1" fmla="val 98837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矩形 121">
            <a:extLst>
              <a:ext uri="{FF2B5EF4-FFF2-40B4-BE49-F238E27FC236}">
                <a16:creationId xmlns:a16="http://schemas.microsoft.com/office/drawing/2014/main" id="{340E5415-407C-D576-2C07-B5323627AAB7}"/>
              </a:ext>
            </a:extLst>
          </p:cNvPr>
          <p:cNvSpPr/>
          <p:nvPr/>
        </p:nvSpPr>
        <p:spPr>
          <a:xfrm>
            <a:off x="4566737" y="5770464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減分</a:t>
            </a:r>
          </a:p>
        </p:txBody>
      </p:sp>
      <p:cxnSp>
        <p:nvCxnSpPr>
          <p:cNvPr id="123" name="接點: 肘形 122">
            <a:extLst>
              <a:ext uri="{FF2B5EF4-FFF2-40B4-BE49-F238E27FC236}">
                <a16:creationId xmlns:a16="http://schemas.microsoft.com/office/drawing/2014/main" id="{C07FC3AB-6366-9595-04BE-9C86AEDC1D7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85314" y="5584850"/>
            <a:ext cx="867767" cy="222208"/>
          </a:xfrm>
          <a:prstGeom prst="bentConnector3">
            <a:avLst>
              <a:gd name="adj1" fmla="val 99526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矩形 123">
            <a:extLst>
              <a:ext uri="{FF2B5EF4-FFF2-40B4-BE49-F238E27FC236}">
                <a16:creationId xmlns:a16="http://schemas.microsoft.com/office/drawing/2014/main" id="{550C7401-4BBD-DFC9-B964-9FF10AF028C8}"/>
              </a:ext>
            </a:extLst>
          </p:cNvPr>
          <p:cNvSpPr/>
          <p:nvPr/>
        </p:nvSpPr>
        <p:spPr>
          <a:xfrm>
            <a:off x="3738027" y="5770464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加分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1BE6F3BF-9F0E-AC42-4F27-4D45947C4F54}"/>
              </a:ext>
            </a:extLst>
          </p:cNvPr>
          <p:cNvSpPr/>
          <p:nvPr/>
        </p:nvSpPr>
        <p:spPr>
          <a:xfrm>
            <a:off x="6568056" y="397064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6A62508-E278-AF33-0D4C-15821C834811}"/>
              </a:ext>
            </a:extLst>
          </p:cNvPr>
          <p:cNvSpPr/>
          <p:nvPr/>
        </p:nvSpPr>
        <p:spPr>
          <a:xfrm>
            <a:off x="7441465" y="3970640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action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74F248F5-ABA1-D88C-0C8E-64BD32AE49BE}"/>
              </a:ext>
            </a:extLst>
          </p:cNvPr>
          <p:cNvSpPr/>
          <p:nvPr/>
        </p:nvSpPr>
        <p:spPr>
          <a:xfrm>
            <a:off x="8325609" y="397064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State</a:t>
            </a:r>
          </a:p>
        </p:txBody>
      </p: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0019A075-0E2A-4A23-B0BB-D12F09FADC23}"/>
              </a:ext>
            </a:extLst>
          </p:cNvPr>
          <p:cNvCxnSpPr>
            <a:stCxn id="128" idx="0"/>
            <a:endCxn id="14" idx="2"/>
          </p:cNvCxnSpPr>
          <p:nvPr/>
        </p:nvCxnSpPr>
        <p:spPr>
          <a:xfrm flipV="1">
            <a:off x="7838568" y="3271146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接點: 肘形 137">
            <a:extLst>
              <a:ext uri="{FF2B5EF4-FFF2-40B4-BE49-F238E27FC236}">
                <a16:creationId xmlns:a16="http://schemas.microsoft.com/office/drawing/2014/main" id="{6BA2A621-9D50-53DB-6967-08462FC496C9}"/>
              </a:ext>
            </a:extLst>
          </p:cNvPr>
          <p:cNvCxnSpPr>
            <a:cxnSpLocks/>
            <a:stCxn id="130" idx="0"/>
          </p:cNvCxnSpPr>
          <p:nvPr/>
        </p:nvCxnSpPr>
        <p:spPr>
          <a:xfrm rot="16200000" flipV="1">
            <a:off x="8156428" y="3444332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接點: 肘形 138">
            <a:extLst>
              <a:ext uri="{FF2B5EF4-FFF2-40B4-BE49-F238E27FC236}">
                <a16:creationId xmlns:a16="http://schemas.microsoft.com/office/drawing/2014/main" id="{0AF6C572-27C6-D23A-0F4C-C402D198768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925182" y="3753764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矩形 145">
            <a:extLst>
              <a:ext uri="{FF2B5EF4-FFF2-40B4-BE49-F238E27FC236}">
                <a16:creationId xmlns:a16="http://schemas.microsoft.com/office/drawing/2014/main" id="{214EC8C9-DD89-0079-65D9-BD396CD5D265}"/>
              </a:ext>
            </a:extLst>
          </p:cNvPr>
          <p:cNvSpPr/>
          <p:nvPr/>
        </p:nvSpPr>
        <p:spPr>
          <a:xfrm>
            <a:off x="6202950" y="4929214"/>
            <a:ext cx="634825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更新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cxnSp>
        <p:nvCxnSpPr>
          <p:cNvPr id="147" name="接點: 肘形 146">
            <a:extLst>
              <a:ext uri="{FF2B5EF4-FFF2-40B4-BE49-F238E27FC236}">
                <a16:creationId xmlns:a16="http://schemas.microsoft.com/office/drawing/2014/main" id="{2F8CE608-44DA-E5C3-13A0-03415731F31A}"/>
              </a:ext>
            </a:extLst>
          </p:cNvPr>
          <p:cNvCxnSpPr>
            <a:cxnSpLocks/>
            <a:endCxn id="127" idx="2"/>
          </p:cNvCxnSpPr>
          <p:nvPr/>
        </p:nvCxnSpPr>
        <p:spPr>
          <a:xfrm rot="16200000" flipV="1">
            <a:off x="6883587" y="4530395"/>
            <a:ext cx="448248" cy="36505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F6F36508-BC77-DA08-5295-2371656082E6}"/>
              </a:ext>
            </a:extLst>
          </p:cNvPr>
          <p:cNvSpPr/>
          <p:nvPr/>
        </p:nvSpPr>
        <p:spPr>
          <a:xfrm>
            <a:off x="6994987" y="4933994"/>
            <a:ext cx="66276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查詢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cxnSp>
        <p:nvCxnSpPr>
          <p:cNvPr id="150" name="接點: 肘形 149">
            <a:extLst>
              <a:ext uri="{FF2B5EF4-FFF2-40B4-BE49-F238E27FC236}">
                <a16:creationId xmlns:a16="http://schemas.microsoft.com/office/drawing/2014/main" id="{7BC967F8-CB5D-8663-3281-FF3300A5F046}"/>
              </a:ext>
            </a:extLst>
          </p:cNvPr>
          <p:cNvCxnSpPr>
            <a:cxnSpLocks/>
            <a:endCxn id="146" idx="0"/>
          </p:cNvCxnSpPr>
          <p:nvPr/>
        </p:nvCxnSpPr>
        <p:spPr>
          <a:xfrm rot="10800000" flipV="1">
            <a:off x="6520363" y="4719702"/>
            <a:ext cx="411360" cy="20951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BC4B1CAE-A203-5739-3A58-A15A17480436}"/>
              </a:ext>
            </a:extLst>
          </p:cNvPr>
          <p:cNvSpPr txBox="1"/>
          <p:nvPr/>
        </p:nvSpPr>
        <p:spPr>
          <a:xfrm>
            <a:off x="108474" y="1573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打磚塊外掛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175" name="投影片編號版面配置區 174">
            <a:extLst>
              <a:ext uri="{FF2B5EF4-FFF2-40B4-BE49-F238E27FC236}">
                <a16:creationId xmlns:a16="http://schemas.microsoft.com/office/drawing/2014/main" id="{7EC41D22-1436-FD09-538C-F21A04A84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28</a:t>
            </a:fld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4602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8DE0D17-BA1B-0719-7FD5-A41824BC1D3C}"/>
                  </a:ext>
                </a:extLst>
              </p:cNvPr>
              <p:cNvSpPr txBox="1"/>
              <p:nvPr/>
            </p:nvSpPr>
            <p:spPr>
              <a:xfrm>
                <a:off x="595884" y="2409319"/>
                <a:ext cx="11000232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dirty="0">
                    <a:latin typeface="Times New Roman" panose="02020603050405020304" pitchFamily="18" charset="0"/>
                  </a:rPr>
                  <a:t>公式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: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Q(</a:t>
                </a:r>
                <a:r>
                  <a:rPr lang="en-US" altLang="zh-TW" dirty="0" err="1">
                    <a:latin typeface="Times New Roman" panose="02020603050405020304" pitchFamily="18" charset="0"/>
                  </a:rPr>
                  <a:t>st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​,at​)=Q(</a:t>
                </a:r>
                <a:r>
                  <a:rPr lang="en-US" altLang="zh-TW" dirty="0" err="1">
                    <a:latin typeface="Times New Roman" panose="02020603050405020304" pitchFamily="18" charset="0"/>
                  </a:rPr>
                  <a:t>st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​,at​)+α[rt+1​+</a:t>
                </a:r>
                <a:r>
                  <a:rPr lang="en-US" altLang="zh-TW" dirty="0" err="1">
                    <a:latin typeface="Times New Roman" panose="02020603050405020304" pitchFamily="18" charset="0"/>
                  </a:rPr>
                  <a:t>γamax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​Q(st+1​,a)−Q(</a:t>
                </a:r>
                <a:r>
                  <a:rPr lang="en-US" altLang="zh-TW" dirty="0" err="1">
                    <a:latin typeface="Times New Roman" panose="02020603050405020304" pitchFamily="18" charset="0"/>
                  </a:rPr>
                  <a:t>st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​,at​)] </a:t>
                </a:r>
              </a:p>
              <a:p>
                <a:endParaRPr lang="en-US" altLang="zh-TW" dirty="0">
                  <a:latin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：當前狀態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下執行行動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的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Q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值。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：學習率，控制著新學到的價值與舊價值的權衡，通常範圍是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0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到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1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之間。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i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：在執行動作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後，從環境中得到的即時回報。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：折扣因子，介於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0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和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1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之間，表示未來回報的相對重要性。越接近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1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，智能體越重視長期回報；越接近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0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，智能體更關注即時回報。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/>
                        </m:func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i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：在下個狀態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i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中，選擇能帶來最大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Q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值的行動。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8DE0D17-BA1B-0719-7FD5-A41824BC1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84" y="2409319"/>
                <a:ext cx="11000232" cy="2585323"/>
              </a:xfrm>
              <a:prstGeom prst="rect">
                <a:avLst/>
              </a:prstGeom>
              <a:blipFill>
                <a:blip r:embed="rId2"/>
                <a:stretch>
                  <a:fillRect l="-499" t="-1179" b="-3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A8CD3894-4951-20DF-FC36-D0D31D432443}"/>
              </a:ext>
            </a:extLst>
          </p:cNvPr>
          <p:cNvSpPr txBox="1"/>
          <p:nvPr/>
        </p:nvSpPr>
        <p:spPr>
          <a:xfrm>
            <a:off x="3048762" y="912614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</a:rPr>
              <a:t>Q_Learning</a:t>
            </a:r>
            <a:endParaRPr lang="zh-TW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B8178F-7EB3-F6DE-FD70-A6BC83B3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569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B71789-97E3-425D-A977-3B66802E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30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9C6CEFF-74EC-A78C-76C3-2E9E79B57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582" y="1153641"/>
            <a:ext cx="4363059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793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3234</TotalTime>
  <Words>1771</Words>
  <Application>Microsoft Office PowerPoint</Application>
  <PresentationFormat>寬螢幕</PresentationFormat>
  <Paragraphs>362</Paragraphs>
  <Slides>30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6" baseType="lpstr">
      <vt:lpstr>標楷體</vt:lpstr>
      <vt:lpstr>Aptos Display</vt:lpstr>
      <vt:lpstr>Arial</vt:lpstr>
      <vt:lpstr>Cambria Math</vt:lpstr>
      <vt:lpstr>Times New Roman</vt:lpstr>
      <vt:lpstr>Office 佈景主題</vt:lpstr>
      <vt:lpstr> 機器學習與實作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機器學習與實作</dc:title>
  <dc:creator>李明易</dc:creator>
  <cp:lastModifiedBy>李明易</cp:lastModifiedBy>
  <cp:revision>22</cp:revision>
  <dcterms:created xsi:type="dcterms:W3CDTF">2025-11-13T03:42:40Z</dcterms:created>
  <dcterms:modified xsi:type="dcterms:W3CDTF">2025-11-26T12:03:02Z</dcterms:modified>
</cp:coreProperties>
</file>